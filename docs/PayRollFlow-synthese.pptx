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3D3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C4A57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40080" y="1234440"/>
            <a:ext cx="10515600" cy="32004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300" b="1">
                <a:solidFill>
                  <a:srgbClr val="C4A574"/>
                </a:solidFill>
                <a:latin typeface="Calibri"/>
              </a:rPr>
              <a:t>SYNTHÈSE PROJET  ·  PAIE  ·  RH  ·  CLOUD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1691640"/>
            <a:ext cx="10972800" cy="137160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5400" b="1">
                <a:solidFill>
                  <a:srgbClr val="FFFFFF"/>
                </a:solidFill>
                <a:latin typeface="Georgia"/>
              </a:rPr>
              <a:t>PayRollFlow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3063240"/>
            <a:ext cx="10241280" cy="100584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2000" b="0">
                <a:solidFill>
                  <a:srgbClr val="D7E6E0"/>
                </a:solidFill>
                <a:latin typeface="Calibri"/>
              </a:rPr>
              <a:t>Plateforme de paie française, assistant RH ancré dans les données,
hébergement Oracle Cloud et monitoring sur instance.</a:t>
            </a:r>
          </a:p>
        </p:txBody>
      </p:sp>
      <p:sp>
        <p:nvSpPr>
          <p:cNvPr id="7" name="Rectangle 6"/>
          <p:cNvSpPr/>
          <p:nvPr/>
        </p:nvSpPr>
        <p:spPr>
          <a:xfrm>
            <a:off x="640080" y="4251960"/>
            <a:ext cx="1005840" cy="64008"/>
          </a:xfrm>
          <a:prstGeom prst="rect">
            <a:avLst/>
          </a:prstGeom>
          <a:solidFill>
            <a:srgbClr val="C4A57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40080" y="4480560"/>
            <a:ext cx="9144000" cy="73152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400" b="0">
                <a:solidFill>
                  <a:srgbClr val="C9D8D3"/>
                </a:solidFill>
                <a:latin typeface="Calibri"/>
              </a:rPr>
              <a:t>ANTARES DS   ·   bulletin officiel A4   ·   console admin &amp; espace collaborateur
Pas d’inscription en ligne  ·  comptes créés par le RH / Oracle Cloud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0080" y="5989320"/>
            <a:ext cx="9144000" cy="32004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200" b="0">
                <a:solidFill>
                  <a:srgbClr val="C4A574"/>
                </a:solidFill>
                <a:latin typeface="Calibri"/>
              </a:rPr>
              <a:t>Document de restitution  —  ensemble du brief partagé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02920" y="6565392"/>
            <a:ext cx="7315200" cy="219456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000" b="0">
                <a:solidFill>
                  <a:srgbClr val="C4A574"/>
                </a:solidFill>
                <a:latin typeface="Calibri"/>
              </a:rPr>
              <a:t>PayRollFlow  ·  ANTARES DS  ·  Synthèse projet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424160" y="6565392"/>
            <a:ext cx="1280160" cy="219456"/>
          </a:xfrm>
          <a:prstGeom prst="rect">
            <a:avLst/>
          </a:prstGeom>
          <a:noFill/>
        </p:spPr>
        <p:txBody>
          <a:bodyPr wrap="square" anchor="t"/>
          <a:lstStyle/>
          <a:p>
            <a:pPr algn="r"/>
            <a:r>
              <a:rPr sz="1000" b="0">
                <a:solidFill>
                  <a:srgbClr val="C4A574"/>
                </a:solidFill>
                <a:latin typeface="Calibri"/>
              </a:rPr>
              <a:t>1  /  18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6F2E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320040"/>
            <a:ext cx="9144000" cy="27432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200" b="1">
                <a:solidFill>
                  <a:srgbClr val="A8864E"/>
                </a:solidFill>
                <a:latin typeface="Calibri"/>
              </a:rPr>
              <a:t>SOMMAIRE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594360"/>
            <a:ext cx="10972800" cy="50292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2800" b="1">
                <a:solidFill>
                  <a:srgbClr val="0F3D32"/>
                </a:solidFill>
                <a:latin typeface="Georgia"/>
              </a:rPr>
              <a:t>Ce que couvre ce document</a:t>
            </a:r>
          </a:p>
        </p:txBody>
      </p:sp>
      <p:sp>
        <p:nvSpPr>
          <p:cNvPr id="5" name="Rectangle 4"/>
          <p:cNvSpPr/>
          <p:nvPr/>
        </p:nvSpPr>
        <p:spPr>
          <a:xfrm>
            <a:off x="548640" y="1143000"/>
            <a:ext cx="502920" cy="64008"/>
          </a:xfrm>
          <a:prstGeom prst="rect">
            <a:avLst/>
          </a:prstGeom>
          <a:solidFill>
            <a:srgbClr val="C4A57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502920" y="1554480"/>
            <a:ext cx="2724912" cy="429768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9525">
            <a:solidFill>
              <a:srgbClr val="E4DDD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04088" y="1783080"/>
            <a:ext cx="2286000" cy="36576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2200" b="1">
                <a:solidFill>
                  <a:srgbClr val="C4A574"/>
                </a:solidFill>
                <a:latin typeface="Georgia"/>
              </a:rPr>
              <a:t>01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04088" y="2286000"/>
            <a:ext cx="2331720" cy="73152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2000" b="1">
                <a:solidFill>
                  <a:srgbClr val="0F3D32"/>
                </a:solidFill>
                <a:latin typeface="Georgia"/>
              </a:rPr>
              <a:t>Intention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04088" y="3108960"/>
            <a:ext cx="2331720" cy="237744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400" b="0">
                <a:solidFill>
                  <a:srgbClr val="5C6B66"/>
                </a:solidFill>
                <a:latin typeface="Calibri"/>
              </a:rPr>
              <a:t>Brief métier, concurrence, bulletin Cerfa, deux rôles, pas d’inscription.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3383280" y="1554480"/>
            <a:ext cx="2724912" cy="429768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9525">
            <a:solidFill>
              <a:srgbClr val="E4DDD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3584448" y="1783080"/>
            <a:ext cx="2286000" cy="36576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2200" b="1">
                <a:solidFill>
                  <a:srgbClr val="C4A574"/>
                </a:solidFill>
                <a:latin typeface="Georgia"/>
              </a:rPr>
              <a:t>02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584448" y="2286000"/>
            <a:ext cx="2331720" cy="73152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2000" b="1">
                <a:solidFill>
                  <a:srgbClr val="0F3D32"/>
                </a:solidFill>
                <a:latin typeface="Georgia"/>
              </a:rPr>
              <a:t>Produit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584448" y="3108960"/>
            <a:ext cx="2331720" cy="237744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400" b="0">
                <a:solidFill>
                  <a:srgbClr val="5C6B66"/>
                </a:solidFill>
                <a:latin typeface="Calibri"/>
              </a:rPr>
              <a:t>Assistant RH, KPI, simulateur, contrats, attestations, paie, portail.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263640" y="1554480"/>
            <a:ext cx="2724912" cy="429768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9525">
            <a:solidFill>
              <a:srgbClr val="E4DDD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464808" y="1783080"/>
            <a:ext cx="2286000" cy="36576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2200" b="1">
                <a:solidFill>
                  <a:srgbClr val="C4A574"/>
                </a:solidFill>
                <a:latin typeface="Georgia"/>
              </a:rPr>
              <a:t>03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464808" y="2286000"/>
            <a:ext cx="2331720" cy="73152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2000" b="1">
                <a:solidFill>
                  <a:srgbClr val="0F3D32"/>
                </a:solidFill>
                <a:latin typeface="Georgia"/>
              </a:rPr>
              <a:t>Technique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464808" y="3108960"/>
            <a:ext cx="2331720" cy="237744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400" b="0">
                <a:solidFill>
                  <a:srgbClr val="5C6B66"/>
                </a:solidFill>
                <a:latin typeface="Calibri"/>
              </a:rPr>
              <a:t>Microservices, stack visuelle, auth, sécurité, données démo.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9144000" y="1554480"/>
            <a:ext cx="2724912" cy="429768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9525">
            <a:solidFill>
              <a:srgbClr val="E4DDD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9345168" y="1783080"/>
            <a:ext cx="2286000" cy="36576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2200" b="1">
                <a:solidFill>
                  <a:srgbClr val="C4A574"/>
                </a:solidFill>
                <a:latin typeface="Georgia"/>
              </a:rPr>
              <a:t>04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9345168" y="2286000"/>
            <a:ext cx="2331720" cy="73152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2000" b="1">
                <a:solidFill>
                  <a:srgbClr val="0F3D32"/>
                </a:solidFill>
                <a:latin typeface="Georgia"/>
              </a:rPr>
              <a:t>Cloud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9345168" y="3108960"/>
            <a:ext cx="2331720" cy="237744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400" b="0">
                <a:solidFill>
                  <a:srgbClr val="5C6B66"/>
                </a:solidFill>
                <a:latin typeface="Calibri"/>
              </a:rPr>
              <a:t>Instance OCI existante, comptes/groupes/rôles, SQL, ELK, Prometheus, Grafana, CI/CD.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502920" y="6565392"/>
            <a:ext cx="7315200" cy="219456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000" b="0">
                <a:solidFill>
                  <a:srgbClr val="5C6B66"/>
                </a:solidFill>
                <a:latin typeface="Calibri"/>
              </a:rPr>
              <a:t>PayRollFlow  ·  ANTARES DS  ·  Synthèse projet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0424160" y="6565392"/>
            <a:ext cx="1280160" cy="219456"/>
          </a:xfrm>
          <a:prstGeom prst="rect">
            <a:avLst/>
          </a:prstGeom>
          <a:noFill/>
        </p:spPr>
        <p:txBody>
          <a:bodyPr wrap="square" anchor="t"/>
          <a:lstStyle/>
          <a:p>
            <a:pPr algn="r"/>
            <a:r>
              <a:rPr sz="1000" b="0">
                <a:solidFill>
                  <a:srgbClr val="5C6B66"/>
                </a:solidFill>
                <a:latin typeface="Calibri"/>
              </a:rPr>
              <a:t>2  /  18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6F2E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320040"/>
            <a:ext cx="9144000" cy="27432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200" b="1">
                <a:solidFill>
                  <a:srgbClr val="A8864E"/>
                </a:solidFill>
                <a:latin typeface="Calibri"/>
              </a:rPr>
              <a:t>01  —  INTENTION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594360"/>
            <a:ext cx="10972800" cy="50292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2800" b="1">
                <a:solidFill>
                  <a:srgbClr val="0F3D32"/>
                </a:solidFill>
                <a:latin typeface="Georgia"/>
              </a:rPr>
              <a:t>Le brief, tel qu’il a été posé</a:t>
            </a:r>
          </a:p>
        </p:txBody>
      </p:sp>
      <p:sp>
        <p:nvSpPr>
          <p:cNvPr id="5" name="Rectangle 4"/>
          <p:cNvSpPr/>
          <p:nvPr/>
        </p:nvSpPr>
        <p:spPr>
          <a:xfrm>
            <a:off x="548640" y="1143000"/>
            <a:ext cx="502920" cy="64008"/>
          </a:xfrm>
          <a:prstGeom prst="rect">
            <a:avLst/>
          </a:prstGeom>
          <a:solidFill>
            <a:srgbClr val="C4A57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502920" y="1417320"/>
            <a:ext cx="11155680" cy="105156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9525">
            <a:solidFill>
              <a:srgbClr val="E4DDD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502920" y="1417320"/>
            <a:ext cx="109728" cy="1051560"/>
          </a:xfrm>
          <a:prstGeom prst="rect">
            <a:avLst/>
          </a:prstGeom>
          <a:solidFill>
            <a:srgbClr val="C4A57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68680" y="1563624"/>
            <a:ext cx="10515600" cy="292608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600" b="1">
                <a:solidFill>
                  <a:srgbClr val="0F3D32"/>
                </a:solidFill>
                <a:latin typeface="Georgia"/>
              </a:rPr>
              <a:t>Paie française réelle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68680" y="1874520"/>
            <a:ext cx="10515600" cy="45720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400" b="0">
                <a:solidFill>
                  <a:srgbClr val="5C6B66"/>
                </a:solidFill>
                <a:latin typeface="Calibri"/>
              </a:rPr>
              <a:t>Partir des rapports Word et d’un bulletin officiel PDF (matricule 1212, août 2026) pour une app utilisable, pas une démo cosmétique.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502920" y="2560320"/>
            <a:ext cx="11155680" cy="105156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9525">
            <a:solidFill>
              <a:srgbClr val="E4DDD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502920" y="2560320"/>
            <a:ext cx="109728" cy="1051560"/>
          </a:xfrm>
          <a:prstGeom prst="rect">
            <a:avLst/>
          </a:prstGeom>
          <a:solidFill>
            <a:srgbClr val="C4A57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68680" y="2706624"/>
            <a:ext cx="10515600" cy="292608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600" b="1">
                <a:solidFill>
                  <a:srgbClr val="0F3D32"/>
                </a:solidFill>
                <a:latin typeface="Georgia"/>
              </a:rPr>
              <a:t>Deux publics, zéro self-signup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68680" y="3017520"/>
            <a:ext cx="10515600" cy="45720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400" b="0">
                <a:solidFill>
                  <a:srgbClr val="5C6B66"/>
                </a:solidFill>
                <a:latin typeface="Calibri"/>
              </a:rPr>
              <a:t>Console RH / admin et espace collaborateur. Les comptes sont créés par le service RH — jamais d’inscription en ligne.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502920" y="3703320"/>
            <a:ext cx="11155680" cy="105156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9525">
            <a:solidFill>
              <a:srgbClr val="E4DDD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502920" y="3703320"/>
            <a:ext cx="109728" cy="1051560"/>
          </a:xfrm>
          <a:prstGeom prst="rect">
            <a:avLst/>
          </a:prstGeom>
          <a:solidFill>
            <a:srgbClr val="C4A57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868680" y="3849624"/>
            <a:ext cx="10515600" cy="292608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600" b="1">
                <a:solidFill>
                  <a:srgbClr val="0F3D32"/>
                </a:solidFill>
                <a:latin typeface="Georgia"/>
              </a:rPr>
              <a:t>Tenir face au marché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68680" y="4160520"/>
            <a:ext cx="10515600" cy="45720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400" b="0">
                <a:solidFill>
                  <a:srgbClr val="5C6B66"/>
                </a:solidFill>
                <a:latin typeface="Calibri"/>
              </a:rPr>
              <a:t>KPI, simulateur, contrats, attestations, calendrier, QR, audit… et un assistant RH comme différenciateur (données réelles, pas d’invention).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502920" y="4846320"/>
            <a:ext cx="11155680" cy="105156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9525">
            <a:solidFill>
              <a:srgbClr val="E4DDD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502920" y="4846320"/>
            <a:ext cx="109728" cy="1051560"/>
          </a:xfrm>
          <a:prstGeom prst="rect">
            <a:avLst/>
          </a:prstGeom>
          <a:solidFill>
            <a:srgbClr val="C4A57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868680" y="4992624"/>
            <a:ext cx="10515600" cy="292608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600" b="1">
                <a:solidFill>
                  <a:srgbClr val="0F3D32"/>
                </a:solidFill>
                <a:latin typeface="Georgia"/>
              </a:rPr>
              <a:t>Exploiter Oracle Cloud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68680" y="5303520"/>
            <a:ext cx="10515600" cy="45720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400" b="0">
                <a:solidFill>
                  <a:srgbClr val="5C6B66"/>
                </a:solidFill>
                <a:latin typeface="Calibri"/>
              </a:rPr>
              <a:t>Héberger sur l’instance Compute déjà créée (VCN déjà là). Créer des comptes, groupes et rôles dans le compte Oracle. Monitorer sur la machine (ELK, Prometheus, Grafana).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502920" y="6565392"/>
            <a:ext cx="7315200" cy="219456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000" b="0">
                <a:solidFill>
                  <a:srgbClr val="5C6B66"/>
                </a:solidFill>
                <a:latin typeface="Calibri"/>
              </a:rPr>
              <a:t>PayRollFlow  ·  ANTARES DS  ·  Synthèse projet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0424160" y="6565392"/>
            <a:ext cx="1280160" cy="219456"/>
          </a:xfrm>
          <a:prstGeom prst="rect">
            <a:avLst/>
          </a:prstGeom>
          <a:noFill/>
        </p:spPr>
        <p:txBody>
          <a:bodyPr wrap="square" anchor="t"/>
          <a:lstStyle/>
          <a:p>
            <a:pPr algn="r"/>
            <a:r>
              <a:rPr sz="1000" b="0">
                <a:solidFill>
                  <a:srgbClr val="5C6B66"/>
                </a:solidFill>
                <a:latin typeface="Calibri"/>
              </a:rPr>
              <a:t>3  /  18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6F2E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320040"/>
            <a:ext cx="9144000" cy="27432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200" b="1">
                <a:solidFill>
                  <a:srgbClr val="A8864E"/>
                </a:solidFill>
                <a:latin typeface="Calibri"/>
              </a:rPr>
              <a:t>02  —  PRODUIT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594360"/>
            <a:ext cx="10972800" cy="45720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2800" b="1">
                <a:solidFill>
                  <a:srgbClr val="0F3D32"/>
                </a:solidFill>
                <a:latin typeface="Georgia"/>
              </a:rPr>
              <a:t>PayRollFlow en une page</a:t>
            </a:r>
          </a:p>
        </p:txBody>
      </p:sp>
      <p:sp>
        <p:nvSpPr>
          <p:cNvPr id="5" name="Rectangle 4"/>
          <p:cNvSpPr/>
          <p:nvPr/>
        </p:nvSpPr>
        <p:spPr>
          <a:xfrm>
            <a:off x="548640" y="1115568"/>
            <a:ext cx="502920" cy="64008"/>
          </a:xfrm>
          <a:prstGeom prst="rect">
            <a:avLst/>
          </a:prstGeom>
          <a:solidFill>
            <a:srgbClr val="C4A57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48640" y="1325880"/>
            <a:ext cx="10972800" cy="41148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500" b="0">
                <a:solidFill>
                  <a:srgbClr val="5C6B66"/>
                </a:solidFill>
                <a:latin typeface="Calibri"/>
              </a:rPr>
              <a:t>Application de gestion de paie pour ANTARES DS : bulletins A4 identiques au Cerfa, cycles de paie, RH du quotidien, portail salarié.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02920" y="1874519"/>
            <a:ext cx="5623560" cy="1901952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9525">
            <a:solidFill>
              <a:srgbClr val="E4DDD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58952" y="2075687"/>
            <a:ext cx="5120640" cy="201168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100" b="1">
                <a:solidFill>
                  <a:srgbClr val="A8864E"/>
                </a:solidFill>
                <a:latin typeface="Calibri"/>
              </a:rPr>
              <a:t>/ADMIN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58952" y="2313431"/>
            <a:ext cx="5120640" cy="36576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800" b="1">
                <a:solidFill>
                  <a:srgbClr val="0F3D32"/>
                </a:solidFill>
                <a:latin typeface="Georgia"/>
              </a:rPr>
              <a:t>Console admin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58952" y="2788919"/>
            <a:ext cx="5120640" cy="77724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400" b="0">
                <a:solidFill>
                  <a:srgbClr val="5C6B66"/>
                </a:solidFill>
                <a:latin typeface="Calibri"/>
              </a:rPr>
              <a:t>Pilotage, employés, cycles, calcul, réseau, congés, acomptes, dossiers, attestations, paramètres, assistant.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309360" y="1874519"/>
            <a:ext cx="5623560" cy="1901952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9525">
            <a:solidFill>
              <a:srgbClr val="E4DDD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565392" y="2075687"/>
            <a:ext cx="5120640" cy="201168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100" b="1">
                <a:solidFill>
                  <a:srgbClr val="A8864E"/>
                </a:solidFill>
                <a:latin typeface="Calibri"/>
              </a:rPr>
              <a:t>/ESPACE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565392" y="2313431"/>
            <a:ext cx="5120640" cy="36576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800" b="1">
                <a:solidFill>
                  <a:srgbClr val="0F3D32"/>
                </a:solidFill>
                <a:latin typeface="Georgia"/>
              </a:rPr>
              <a:t>Espace collaborateur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565392" y="2788919"/>
            <a:ext cx="5120640" cy="77724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400" b="0">
                <a:solidFill>
                  <a:srgbClr val="5C6B66"/>
                </a:solidFill>
                <a:latin typeface="Calibri"/>
              </a:rPr>
              <a:t>Dernier net, bulletins, congés, historique, acomptes, dossier RH, attestations, profil, assistant.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502920" y="3931919"/>
            <a:ext cx="5623560" cy="1901952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9525">
            <a:solidFill>
              <a:srgbClr val="E4DDD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758952" y="4133087"/>
            <a:ext cx="5120640" cy="201168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100" b="1">
                <a:solidFill>
                  <a:srgbClr val="A8864E"/>
                </a:solidFill>
                <a:latin typeface="Calibri"/>
              </a:rPr>
              <a:t>A4 + QR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758952" y="4370831"/>
            <a:ext cx="5120640" cy="36576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800" b="1">
                <a:solidFill>
                  <a:srgbClr val="0F3D32"/>
                </a:solidFill>
                <a:latin typeface="Georgia"/>
              </a:rPr>
              <a:t>Cœur paie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758952" y="4846319"/>
            <a:ext cx="5120640" cy="77724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400" b="0">
                <a:solidFill>
                  <a:srgbClr val="5C6B66"/>
                </a:solidFill>
                <a:latin typeface="Calibri"/>
              </a:rPr>
              <a:t>URSSAF, CSG, PAS, Fillon, tickets repas, cumuls, versions de bulletins conservées, export virement CSV.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6309360" y="3931919"/>
            <a:ext cx="5623560" cy="1901952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9525">
            <a:solidFill>
              <a:srgbClr val="E4DDD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6565392" y="4133087"/>
            <a:ext cx="5120640" cy="201168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100" b="1">
                <a:solidFill>
                  <a:srgbClr val="A8864E"/>
                </a:solidFill>
                <a:latin typeface="Calibri"/>
              </a:rPr>
              <a:t>VIE DU CONTRAT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565392" y="4370831"/>
            <a:ext cx="5120640" cy="36576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800" b="1">
                <a:solidFill>
                  <a:srgbClr val="0F3D32"/>
                </a:solidFill>
                <a:latin typeface="Georgia"/>
              </a:rPr>
              <a:t>Cœur RH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565392" y="4846319"/>
            <a:ext cx="5120640" cy="77724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400" b="0">
                <a:solidFill>
                  <a:srgbClr val="5C6B66"/>
                </a:solidFill>
                <a:latin typeface="Calibri"/>
              </a:rPr>
              <a:t>Congés / RTT, calendrier, alertes de fin de contrat, attestations de travail et certificats de salaire.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502920" y="6565392"/>
            <a:ext cx="7315200" cy="219456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000" b="0">
                <a:solidFill>
                  <a:srgbClr val="5C6B66"/>
                </a:solidFill>
                <a:latin typeface="Calibri"/>
              </a:rPr>
              <a:t>PayRollFlow  ·  ANTARES DS  ·  Synthèse projet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0424160" y="6565392"/>
            <a:ext cx="1280160" cy="219456"/>
          </a:xfrm>
          <a:prstGeom prst="rect">
            <a:avLst/>
          </a:prstGeom>
          <a:noFill/>
        </p:spPr>
        <p:txBody>
          <a:bodyPr wrap="square" anchor="t"/>
          <a:lstStyle/>
          <a:p>
            <a:pPr algn="r"/>
            <a:r>
              <a:rPr sz="1000" b="0">
                <a:solidFill>
                  <a:srgbClr val="5C6B66"/>
                </a:solidFill>
                <a:latin typeface="Calibri"/>
              </a:rPr>
              <a:t>4  /  18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6F2E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320040"/>
            <a:ext cx="9144000" cy="27432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200" b="1">
                <a:solidFill>
                  <a:srgbClr val="A8864E"/>
                </a:solidFill>
                <a:latin typeface="Calibri"/>
              </a:rPr>
              <a:t>02  —  PRODUIT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594360"/>
            <a:ext cx="10972800" cy="45720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2800" b="1">
                <a:solidFill>
                  <a:srgbClr val="0F3D32"/>
                </a:solidFill>
                <a:latin typeface="Georgia"/>
              </a:rPr>
              <a:t>Deux portes d’entrée, un seul référentiel</a:t>
            </a:r>
          </a:p>
        </p:txBody>
      </p:sp>
      <p:sp>
        <p:nvSpPr>
          <p:cNvPr id="5" name="Rectangle 4"/>
          <p:cNvSpPr/>
          <p:nvPr/>
        </p:nvSpPr>
        <p:spPr>
          <a:xfrm>
            <a:off x="548640" y="1115568"/>
            <a:ext cx="502920" cy="64008"/>
          </a:xfrm>
          <a:prstGeom prst="rect">
            <a:avLst/>
          </a:prstGeom>
          <a:solidFill>
            <a:srgbClr val="C4A57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502920" y="1463040"/>
            <a:ext cx="5486400" cy="4709160"/>
          </a:xfrm>
          <a:prstGeom prst="roundRect">
            <a:avLst>
              <a:gd name="adj" fmla="val 8000"/>
            </a:avLst>
          </a:prstGeom>
          <a:solidFill>
            <a:srgbClr val="0F3D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77240" y="1691640"/>
            <a:ext cx="4937760" cy="22860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100" b="1">
                <a:solidFill>
                  <a:srgbClr val="C4A574"/>
                </a:solidFill>
                <a:latin typeface="Calibri"/>
              </a:rPr>
              <a:t>ADMINISTRATEUR  ·  NADIA KONÉ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77240" y="2011680"/>
            <a:ext cx="4937760" cy="45720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2200" b="1">
                <a:solidFill>
                  <a:srgbClr val="FFFFFF"/>
                </a:solidFill>
                <a:latin typeface="Georgia"/>
              </a:rPr>
              <a:t>Pilotage de la masse salariale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77240" y="2606040"/>
            <a:ext cx="4937760" cy="3200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800"/>
              </a:spcAft>
            </a:pPr>
            <a:r>
              <a:rPr sz="1500">
                <a:solidFill>
                  <a:srgbClr val="D7E6E0"/>
                </a:solidFill>
                <a:latin typeface="Calibri"/>
              </a:rPr>
              <a:t>▸  KPI, alertes, anomalies, prévision 3 mois</a:t>
            </a:r>
          </a:p>
          <a:p>
            <a:pPr algn="l">
              <a:spcAft>
                <a:spcPts val="800"/>
              </a:spcAft>
            </a:pPr>
            <a:r>
              <a:rPr sz="1500">
                <a:solidFill>
                  <a:srgbClr val="D7E6E0"/>
                </a:solidFill>
                <a:latin typeface="Calibri"/>
              </a:rPr>
              <a:t>▸  Calcul pas à pas + simulateur hausse / prime</a:t>
            </a:r>
          </a:p>
          <a:p>
            <a:pPr algn="l">
              <a:spcAft>
                <a:spcPts val="800"/>
              </a:spcAft>
            </a:pPr>
            <a:r>
              <a:rPr sz="1500">
                <a:solidFill>
                  <a:srgbClr val="D7E6E0"/>
                </a:solidFill>
                <a:latin typeface="Calibri"/>
              </a:rPr>
              <a:t>▸  Validation des cycles : brouillon → payé</a:t>
            </a:r>
          </a:p>
          <a:p>
            <a:pPr algn="l">
              <a:spcAft>
                <a:spcPts val="800"/>
              </a:spcAft>
            </a:pPr>
            <a:r>
              <a:rPr sz="1500">
                <a:solidFill>
                  <a:srgbClr val="D7E6E0"/>
                </a:solidFill>
                <a:latin typeface="Calibri"/>
              </a:rPr>
              <a:t>▸  Réseau : internes, clients, freelances, factures</a:t>
            </a:r>
          </a:p>
          <a:p>
            <a:pPr algn="l">
              <a:spcAft>
                <a:spcPts val="800"/>
              </a:spcAft>
            </a:pPr>
            <a:r>
              <a:rPr sz="1500">
                <a:solidFill>
                  <a:srgbClr val="D7E6E0"/>
                </a:solidFill>
                <a:latin typeface="Calibri"/>
              </a:rPr>
              <a:t>▸  Décisions congés / acomptes, journal d’audit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217920" y="1463040"/>
            <a:ext cx="5486400" cy="470916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9525">
            <a:solidFill>
              <a:srgbClr val="E4DDD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492240" y="1691640"/>
            <a:ext cx="4937760" cy="22860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100" b="1">
                <a:solidFill>
                  <a:srgbClr val="A8864E"/>
                </a:solidFill>
                <a:latin typeface="Calibri"/>
              </a:rPr>
              <a:t>COLLABORATEUR  ·  YAO LASSIDAN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492240" y="2011680"/>
            <a:ext cx="4937760" cy="45720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2200" b="1">
                <a:solidFill>
                  <a:srgbClr val="0F3D32"/>
                </a:solidFill>
                <a:latin typeface="Georgia"/>
              </a:rPr>
              <a:t>Espace personnel nominatif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492240" y="2606040"/>
            <a:ext cx="4937760" cy="3200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800"/>
              </a:spcAft>
            </a:pPr>
            <a:r>
              <a:rPr sz="1500">
                <a:solidFill>
                  <a:srgbClr val="5C6B66"/>
                </a:solidFill>
                <a:latin typeface="Calibri"/>
              </a:rPr>
              <a:t>▸  Dernier net à payer et soldes de congés</a:t>
            </a:r>
          </a:p>
          <a:p>
            <a:pPr algn="l">
              <a:spcAft>
                <a:spcPts val="800"/>
              </a:spcAft>
            </a:pPr>
            <a:r>
              <a:rPr sz="1500">
                <a:solidFill>
                  <a:srgbClr val="5C6B66"/>
                </a:solidFill>
                <a:latin typeface="Calibri"/>
              </a:rPr>
              <a:t>▸  Bulletins A4, impression, QR de contrôle</a:t>
            </a:r>
          </a:p>
          <a:p>
            <a:pPr algn="l">
              <a:spcAft>
                <a:spcPts val="800"/>
              </a:spcAft>
            </a:pPr>
            <a:r>
              <a:rPr sz="1500">
                <a:solidFill>
                  <a:srgbClr val="5C6B66"/>
                </a:solidFill>
                <a:latin typeface="Calibri"/>
              </a:rPr>
              <a:t>▸  Demandes CP / RTT + calendrier + historique</a:t>
            </a:r>
          </a:p>
          <a:p>
            <a:pPr algn="l">
              <a:spcAft>
                <a:spcPts val="800"/>
              </a:spcAft>
            </a:pPr>
            <a:r>
              <a:rPr sz="1500">
                <a:solidFill>
                  <a:srgbClr val="5C6B66"/>
                </a:solidFill>
                <a:latin typeface="Calibri"/>
              </a:rPr>
              <a:t>▸  Acomptes, dossier (CNI, RIB, contrat, Vitale)</a:t>
            </a:r>
          </a:p>
          <a:p>
            <a:pPr algn="l">
              <a:spcAft>
                <a:spcPts val="800"/>
              </a:spcAft>
            </a:pPr>
            <a:r>
              <a:rPr sz="1500">
                <a:solidFill>
                  <a:srgbClr val="5C6B66"/>
                </a:solidFill>
                <a:latin typeface="Calibri"/>
              </a:rPr>
              <a:t>▸  Attestations de travail et de salaire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02920" y="6565392"/>
            <a:ext cx="7315200" cy="219456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000" b="0">
                <a:solidFill>
                  <a:srgbClr val="5C6B66"/>
                </a:solidFill>
                <a:latin typeface="Calibri"/>
              </a:rPr>
              <a:t>PayRollFlow  ·  ANTARES DS  ·  Synthèse projet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0424160" y="6565392"/>
            <a:ext cx="1280160" cy="219456"/>
          </a:xfrm>
          <a:prstGeom prst="rect">
            <a:avLst/>
          </a:prstGeom>
          <a:noFill/>
        </p:spPr>
        <p:txBody>
          <a:bodyPr wrap="square" anchor="t"/>
          <a:lstStyle/>
          <a:p>
            <a:pPr algn="r"/>
            <a:r>
              <a:rPr sz="1000" b="0">
                <a:solidFill>
                  <a:srgbClr val="5C6B66"/>
                </a:solidFill>
                <a:latin typeface="Calibri"/>
              </a:rPr>
              <a:t>5  /  18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6F2E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320040"/>
            <a:ext cx="9144000" cy="27432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200" b="1">
                <a:solidFill>
                  <a:srgbClr val="A8864E"/>
                </a:solidFill>
                <a:latin typeface="Calibri"/>
              </a:rPr>
              <a:t>02  —  LEVIER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594360"/>
            <a:ext cx="10972800" cy="45720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2800" b="1">
                <a:solidFill>
                  <a:srgbClr val="0F3D32"/>
                </a:solidFill>
                <a:latin typeface="Georgia"/>
              </a:rPr>
              <a:t>L’assistant RH, vrai différenciateur</a:t>
            </a:r>
          </a:p>
        </p:txBody>
      </p:sp>
      <p:sp>
        <p:nvSpPr>
          <p:cNvPr id="5" name="Rectangle 4"/>
          <p:cNvSpPr/>
          <p:nvPr/>
        </p:nvSpPr>
        <p:spPr>
          <a:xfrm>
            <a:off x="548640" y="1115568"/>
            <a:ext cx="502920" cy="64008"/>
          </a:xfrm>
          <a:prstGeom prst="rect">
            <a:avLst/>
          </a:prstGeom>
          <a:solidFill>
            <a:srgbClr val="C4A57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48640" y="1325880"/>
            <a:ext cx="11064240" cy="50292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600" b="0">
                <a:solidFill>
                  <a:srgbClr val="5C6B66"/>
                </a:solidFill>
                <a:latin typeface="Calibri"/>
              </a:rPr>
              <a:t>Il répond avec les soldes, le bulletin et les contrats. Pas de LLM, pas d’hallucination : si la donnée n’est pas dans PayRollFlow, il le dit.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02920" y="1965960"/>
            <a:ext cx="7223760" cy="416052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9525">
            <a:solidFill>
              <a:srgbClr val="E4DDD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77240" y="2148840"/>
            <a:ext cx="6766560" cy="27432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100" b="1">
                <a:solidFill>
                  <a:srgbClr val="A8864E"/>
                </a:solidFill>
                <a:latin typeface="Calibri"/>
              </a:rPr>
              <a:t>EXEMPLES DÉJÀ TESTÉS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77240" y="2514600"/>
            <a:ext cx="6766560" cy="292608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400" b="1">
                <a:solidFill>
                  <a:srgbClr val="0F3D32"/>
                </a:solidFill>
                <a:latin typeface="Calibri"/>
              </a:rPr>
              <a:t>« Combien de jours de congés me reste-t-il ? »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77240" y="2807208"/>
            <a:ext cx="6766560" cy="36576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300" b="0">
                <a:solidFill>
                  <a:srgbClr val="5C6B66"/>
                </a:solidFill>
                <a:latin typeface="Calibri"/>
              </a:rPr>
              <a:t>Yao : 25 j de CP restants, 10 j de RTT.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77240" y="3337560"/>
            <a:ext cx="6766560" cy="292608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400" b="1">
                <a:solidFill>
                  <a:srgbClr val="0F3D32"/>
                </a:solidFill>
                <a:latin typeface="Calibri"/>
              </a:rPr>
              <a:t>« Comment est calculé mon salaire ? »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77240" y="3630168"/>
            <a:ext cx="6766560" cy="36576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300" b="0">
                <a:solidFill>
                  <a:srgbClr val="5C6B66"/>
                </a:solidFill>
                <a:latin typeface="Calibri"/>
              </a:rPr>
              <a:t>Brut 827,23 €  →  net 704,88 €  (bulletin officiel inchangé).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77240" y="4160520"/>
            <a:ext cx="6766560" cy="292608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400" b="1">
                <a:solidFill>
                  <a:srgbClr val="0F3D32"/>
                </a:solidFill>
                <a:latin typeface="Calibri"/>
              </a:rPr>
              <a:t>« Quelle est la masse salariale ? »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77240" y="4453128"/>
            <a:ext cx="6766560" cy="36576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300" b="0">
                <a:solidFill>
                  <a:srgbClr val="5C6B66"/>
                </a:solidFill>
                <a:latin typeface="Calibri"/>
              </a:rPr>
              <a:t>Côté admin : dernier cycle calculé, coût employeur.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77240" y="4983480"/>
            <a:ext cx="6766560" cy="292608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400" b="1">
                <a:solidFill>
                  <a:srgbClr val="0F3D32"/>
                </a:solidFill>
                <a:latin typeface="Calibri"/>
              </a:rPr>
              <a:t>« Quels contrats expirent ? »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77240" y="5276088"/>
            <a:ext cx="6766560" cy="36576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300" b="0">
                <a:solidFill>
                  <a:srgbClr val="5C6B66"/>
                </a:solidFill>
                <a:latin typeface="Calibri"/>
              </a:rPr>
              <a:t>Alerte CDD Camille Roux, fin au 31/10/2026.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7909560" y="1965960"/>
            <a:ext cx="3794760" cy="4160520"/>
          </a:xfrm>
          <a:prstGeom prst="roundRect">
            <a:avLst>
              <a:gd name="adj" fmla="val 8000"/>
            </a:avLst>
          </a:prstGeom>
          <a:solidFill>
            <a:srgbClr val="0F3D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8138160" y="2194560"/>
            <a:ext cx="3383280" cy="27432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100" b="1">
                <a:solidFill>
                  <a:srgbClr val="C4A574"/>
                </a:solidFill>
                <a:latin typeface="Calibri"/>
              </a:rPr>
              <a:t>OÙ LE TROUVER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138160" y="2606040"/>
            <a:ext cx="3383280" cy="320040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500" b="0">
                <a:solidFill>
                  <a:srgbClr val="D7E6E0"/>
                </a:solidFill>
                <a:latin typeface="Calibri"/>
              </a:rPr>
              <a:t>Bulle en bas à droite
partout dans l’app.
Pages dédiées :
/admin/assistant
/espace/assistant
Citations vers congés,
bulletin, contrats.
Suggestions selon le rôle.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502920" y="6565392"/>
            <a:ext cx="7315200" cy="219456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000" b="0">
                <a:solidFill>
                  <a:srgbClr val="5C6B66"/>
                </a:solidFill>
                <a:latin typeface="Calibri"/>
              </a:rPr>
              <a:t>PayRollFlow  ·  ANTARES DS  ·  Synthèse projet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0424160" y="6565392"/>
            <a:ext cx="1280160" cy="219456"/>
          </a:xfrm>
          <a:prstGeom prst="rect">
            <a:avLst/>
          </a:prstGeom>
          <a:noFill/>
        </p:spPr>
        <p:txBody>
          <a:bodyPr wrap="square" anchor="t"/>
          <a:lstStyle/>
          <a:p>
            <a:pPr algn="r"/>
            <a:r>
              <a:rPr sz="1000" b="0">
                <a:solidFill>
                  <a:srgbClr val="5C6B66"/>
                </a:solidFill>
                <a:latin typeface="Calibri"/>
              </a:rPr>
              <a:t>6  /  18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6F2E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320040"/>
            <a:ext cx="9144000" cy="27432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200" b="1">
                <a:solidFill>
                  <a:srgbClr val="A8864E"/>
                </a:solidFill>
                <a:latin typeface="Calibri"/>
              </a:rPr>
              <a:t>02  —  PAIE OFFICIELLE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594360"/>
            <a:ext cx="10972800" cy="45720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2800" b="1">
                <a:solidFill>
                  <a:srgbClr val="0F3D32"/>
                </a:solidFill>
                <a:latin typeface="Georgia"/>
              </a:rPr>
              <a:t>Le bulletin, à l’identique du PDF</a:t>
            </a:r>
          </a:p>
        </p:txBody>
      </p:sp>
      <p:sp>
        <p:nvSpPr>
          <p:cNvPr id="5" name="Rectangle 4"/>
          <p:cNvSpPr/>
          <p:nvPr/>
        </p:nvSpPr>
        <p:spPr>
          <a:xfrm>
            <a:off x="548640" y="1115568"/>
            <a:ext cx="502920" cy="64008"/>
          </a:xfrm>
          <a:prstGeom prst="rect">
            <a:avLst/>
          </a:prstGeom>
          <a:solidFill>
            <a:srgbClr val="C4A57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502920" y="1417320"/>
            <a:ext cx="3657600" cy="109728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9525">
            <a:solidFill>
              <a:srgbClr val="E4DDD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04088" y="1581912"/>
            <a:ext cx="3246120" cy="22860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100" b="1">
                <a:solidFill>
                  <a:srgbClr val="A8864E"/>
                </a:solidFill>
                <a:latin typeface="Calibri"/>
              </a:rPr>
              <a:t>SOCIÉTÉ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04088" y="1856232"/>
            <a:ext cx="3246120" cy="45720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2000" b="1">
                <a:solidFill>
                  <a:srgbClr val="0F3D32"/>
                </a:solidFill>
                <a:latin typeface="Georgia"/>
              </a:rPr>
              <a:t>ANTARES DS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343400" y="1417320"/>
            <a:ext cx="3657600" cy="109728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9525">
            <a:solidFill>
              <a:srgbClr val="E4DDD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4544568" y="1581912"/>
            <a:ext cx="3246120" cy="22860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100" b="1">
                <a:solidFill>
                  <a:srgbClr val="A8864E"/>
                </a:solidFill>
                <a:latin typeface="Calibri"/>
              </a:rPr>
              <a:t>MATRICULE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544568" y="1856232"/>
            <a:ext cx="3246120" cy="45720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2000" b="1">
                <a:solidFill>
                  <a:srgbClr val="0F3D32"/>
                </a:solidFill>
                <a:latin typeface="Georgia"/>
              </a:rPr>
              <a:t>1212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8183880" y="1417320"/>
            <a:ext cx="3657600" cy="109728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9525">
            <a:solidFill>
              <a:srgbClr val="E4DDD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8385048" y="1581912"/>
            <a:ext cx="3246120" cy="22860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100" b="1">
                <a:solidFill>
                  <a:srgbClr val="A8864E"/>
                </a:solidFill>
                <a:latin typeface="Calibri"/>
              </a:rPr>
              <a:t>PÉRIODE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385048" y="1856232"/>
            <a:ext cx="3246120" cy="45720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2000" b="1">
                <a:solidFill>
                  <a:srgbClr val="0F3D32"/>
                </a:solidFill>
                <a:latin typeface="Georgia"/>
              </a:rPr>
              <a:t>01/08/26 – 31/08/26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502920" y="2651760"/>
            <a:ext cx="3657600" cy="109728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9525">
            <a:solidFill>
              <a:srgbClr val="E4DDD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704088" y="2816352"/>
            <a:ext cx="3246120" cy="22860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100" b="1">
                <a:solidFill>
                  <a:srgbClr val="A8864E"/>
                </a:solidFill>
                <a:latin typeface="Calibri"/>
              </a:rPr>
              <a:t>NET À PAYER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704088" y="3090672"/>
            <a:ext cx="3246120" cy="45720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2000" b="1">
                <a:solidFill>
                  <a:srgbClr val="0F3D32"/>
                </a:solidFill>
                <a:latin typeface="Georgia"/>
              </a:rPr>
              <a:t>704,88 €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4343400" y="2651760"/>
            <a:ext cx="3657600" cy="109728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9525">
            <a:solidFill>
              <a:srgbClr val="E4DDD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4544568" y="2816352"/>
            <a:ext cx="3246120" cy="22860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100" b="1">
                <a:solidFill>
                  <a:srgbClr val="A8864E"/>
                </a:solidFill>
                <a:latin typeface="Calibri"/>
              </a:rPr>
              <a:t>SOURCE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544568" y="3090672"/>
            <a:ext cx="3246120" cy="45720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2000" b="1">
                <a:solidFill>
                  <a:srgbClr val="0F3D32"/>
                </a:solidFill>
                <a:latin typeface="Georgia"/>
              </a:rPr>
              <a:t>PDF 1212_20260831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8183880" y="2651760"/>
            <a:ext cx="3657600" cy="109728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9525">
            <a:solidFill>
              <a:srgbClr val="E4DDD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8385048" y="2816352"/>
            <a:ext cx="3246120" cy="22860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100" b="1">
                <a:solidFill>
                  <a:srgbClr val="A8864E"/>
                </a:solidFill>
                <a:latin typeface="Calibri"/>
              </a:rPr>
              <a:t>SUPPORT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8385048" y="3090672"/>
            <a:ext cx="3246120" cy="45720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2000" b="1">
                <a:solidFill>
                  <a:srgbClr val="0F3D32"/>
                </a:solidFill>
                <a:latin typeface="Georgia"/>
              </a:rPr>
              <a:t>A4 impression / PDF + QR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502920" y="4023360"/>
            <a:ext cx="11155680" cy="210312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9525">
            <a:solidFill>
              <a:srgbClr val="E4DDD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777240" y="4187952"/>
            <a:ext cx="10698480" cy="27432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100" b="1">
                <a:solidFill>
                  <a:srgbClr val="A8864E"/>
                </a:solidFill>
                <a:latin typeface="Calibri"/>
              </a:rPr>
              <a:t>STRUCTURE REPRISE DU BULLETIN FRANÇAIS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777240" y="4526280"/>
            <a:ext cx="10698480" cy="137160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500" b="0">
                <a:solidFill>
                  <a:srgbClr val="5C6B66"/>
                </a:solidFill>
                <a:latin typeface="Calibri"/>
              </a:rPr>
              <a:t>En-tête période / paiement / matricule / ancienneté. Employeur : adresse, SIRET, APE, convention, coef, horaire.
Salarié : civilité, n° sécu, emploi, catégorie. Colonnes Désignation / Nombre / Base / Taux / Gain / Retenue / Part employeur.
Blocs SANTÉ, RETRAITE, famille, chômage, CSG, allègement Fillon, indemnités repas, compteurs de congés, PAS, cumuls.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502920" y="6565392"/>
            <a:ext cx="7315200" cy="219456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000" b="0">
                <a:solidFill>
                  <a:srgbClr val="5C6B66"/>
                </a:solidFill>
                <a:latin typeface="Calibri"/>
              </a:rPr>
              <a:t>PayRollFlow  ·  ANTARES DS  ·  Synthèse projet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10424160" y="6565392"/>
            <a:ext cx="1280160" cy="219456"/>
          </a:xfrm>
          <a:prstGeom prst="rect">
            <a:avLst/>
          </a:prstGeom>
          <a:noFill/>
        </p:spPr>
        <p:txBody>
          <a:bodyPr wrap="square" anchor="t"/>
          <a:lstStyle/>
          <a:p>
            <a:pPr algn="r"/>
            <a:r>
              <a:rPr sz="1000" b="0">
                <a:solidFill>
                  <a:srgbClr val="5C6B66"/>
                </a:solidFill>
                <a:latin typeface="Calibri"/>
              </a:rPr>
              <a:t>7  /  18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6F2E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320040"/>
            <a:ext cx="9144000" cy="27432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200" b="1">
                <a:solidFill>
                  <a:srgbClr val="A8864E"/>
                </a:solidFill>
                <a:latin typeface="Calibri"/>
              </a:rPr>
              <a:t>02  —  PILOTAGE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594360"/>
            <a:ext cx="10972800" cy="45720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2800" b="1">
                <a:solidFill>
                  <a:srgbClr val="0F3D32"/>
                </a:solidFill>
                <a:latin typeface="Georgia"/>
              </a:rPr>
              <a:t>KPI recalculés à chaque cycle</a:t>
            </a:r>
          </a:p>
        </p:txBody>
      </p:sp>
      <p:sp>
        <p:nvSpPr>
          <p:cNvPr id="5" name="Rectangle 4"/>
          <p:cNvSpPr/>
          <p:nvPr/>
        </p:nvSpPr>
        <p:spPr>
          <a:xfrm>
            <a:off x="548640" y="1115568"/>
            <a:ext cx="502920" cy="64008"/>
          </a:xfrm>
          <a:prstGeom prst="rect">
            <a:avLst/>
          </a:prstGeom>
          <a:solidFill>
            <a:srgbClr val="C4A57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502920" y="1463040"/>
            <a:ext cx="2743200" cy="201168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9525">
            <a:solidFill>
              <a:srgbClr val="E4DDD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502920" y="1463040"/>
            <a:ext cx="2743200" cy="73152"/>
          </a:xfrm>
          <a:prstGeom prst="rect">
            <a:avLst/>
          </a:prstGeom>
          <a:solidFill>
            <a:srgbClr val="C4A57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85800" y="1828800"/>
            <a:ext cx="2377440" cy="82296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800" b="1">
                <a:solidFill>
                  <a:srgbClr val="0F3D32"/>
                </a:solidFill>
                <a:latin typeface="Georgia"/>
              </a:rPr>
              <a:t>Effectif actif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85800" y="2697480"/>
            <a:ext cx="2377440" cy="50292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300" b="0">
                <a:solidFill>
                  <a:srgbClr val="5C6B66"/>
                </a:solidFill>
                <a:latin typeface="Calibri"/>
              </a:rPr>
              <a:t>dont collaborateurs en congé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3383280" y="1463040"/>
            <a:ext cx="2743200" cy="201168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9525">
            <a:solidFill>
              <a:srgbClr val="E4DDD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3383280" y="1463040"/>
            <a:ext cx="2743200" cy="73152"/>
          </a:xfrm>
          <a:prstGeom prst="rect">
            <a:avLst/>
          </a:prstGeom>
          <a:solidFill>
            <a:srgbClr val="C4A57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3566160" y="1828800"/>
            <a:ext cx="2377440" cy="82296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800" b="1">
                <a:solidFill>
                  <a:srgbClr val="0F3D32"/>
                </a:solidFill>
                <a:latin typeface="Georgia"/>
              </a:rPr>
              <a:t>Masse salariale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566160" y="2697480"/>
            <a:ext cx="2377440" cy="50292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300" b="0">
                <a:solidFill>
                  <a:srgbClr val="5C6B66"/>
                </a:solidFill>
                <a:latin typeface="Calibri"/>
              </a:rPr>
              <a:t>coût employeur du cycle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263640" y="1463040"/>
            <a:ext cx="2743200" cy="201168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9525">
            <a:solidFill>
              <a:srgbClr val="E4DDD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6263640" y="1463040"/>
            <a:ext cx="2743200" cy="73152"/>
          </a:xfrm>
          <a:prstGeom prst="rect">
            <a:avLst/>
          </a:prstGeom>
          <a:solidFill>
            <a:srgbClr val="C4A57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446520" y="1828800"/>
            <a:ext cx="2377440" cy="82296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800" b="1">
                <a:solidFill>
                  <a:srgbClr val="0F3D32"/>
                </a:solidFill>
                <a:latin typeface="Georgia"/>
              </a:rPr>
              <a:t>Coût moyen / salarié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446520" y="2697480"/>
            <a:ext cx="2377440" cy="50292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300" b="0">
                <a:solidFill>
                  <a:srgbClr val="5C6B66"/>
                </a:solidFill>
                <a:latin typeface="Calibri"/>
              </a:rPr>
              <a:t>net moyen en vis-à-vis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9144000" y="1463040"/>
            <a:ext cx="2743200" cy="201168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9525">
            <a:solidFill>
              <a:srgbClr val="E4DDD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9144000" y="1463040"/>
            <a:ext cx="2743200" cy="73152"/>
          </a:xfrm>
          <a:prstGeom prst="rect">
            <a:avLst/>
          </a:prstGeom>
          <a:solidFill>
            <a:srgbClr val="C4A57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9326880" y="1828800"/>
            <a:ext cx="2377440" cy="82296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800" b="1">
                <a:solidFill>
                  <a:srgbClr val="0F3D32"/>
                </a:solidFill>
                <a:latin typeface="Georgia"/>
              </a:rPr>
              <a:t>Absentéisme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9326880" y="2697480"/>
            <a:ext cx="2377440" cy="50292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300" b="0">
                <a:solidFill>
                  <a:srgbClr val="5C6B66"/>
                </a:solidFill>
                <a:latin typeface="Calibri"/>
              </a:rPr>
              <a:t>et validations RH en attente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502920" y="3657600"/>
            <a:ext cx="2743200" cy="201168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9525">
            <a:solidFill>
              <a:srgbClr val="E4DDD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502920" y="3657600"/>
            <a:ext cx="2743200" cy="73152"/>
          </a:xfrm>
          <a:prstGeom prst="rect">
            <a:avLst/>
          </a:prstGeom>
          <a:solidFill>
            <a:srgbClr val="C4A57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685800" y="4023360"/>
            <a:ext cx="2377440" cy="82296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800" b="1">
                <a:solidFill>
                  <a:srgbClr val="0F3D32"/>
                </a:solidFill>
                <a:latin typeface="Georgia"/>
              </a:rPr>
              <a:t>Hommes / femmes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85800" y="4892040"/>
            <a:ext cx="2377440" cy="50292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300" b="0">
                <a:solidFill>
                  <a:srgbClr val="5C6B66"/>
                </a:solidFill>
                <a:latin typeface="Calibri"/>
              </a:rPr>
              <a:t>répartition de l’effectif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3383280" y="3657600"/>
            <a:ext cx="2743200" cy="201168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9525">
            <a:solidFill>
              <a:srgbClr val="E4DDD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ectangle 26"/>
          <p:cNvSpPr/>
          <p:nvPr/>
        </p:nvSpPr>
        <p:spPr>
          <a:xfrm>
            <a:off x="3383280" y="3657600"/>
            <a:ext cx="2743200" cy="73152"/>
          </a:xfrm>
          <a:prstGeom prst="rect">
            <a:avLst/>
          </a:prstGeom>
          <a:solidFill>
            <a:srgbClr val="C4A57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3566160" y="4023360"/>
            <a:ext cx="2377440" cy="82296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800" b="1">
                <a:solidFill>
                  <a:srgbClr val="0F3D32"/>
                </a:solidFill>
                <a:latin typeface="Georgia"/>
              </a:rPr>
              <a:t>Types de contrats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3566160" y="4892040"/>
            <a:ext cx="2377440" cy="50292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300" b="0">
                <a:solidFill>
                  <a:srgbClr val="5C6B66"/>
                </a:solidFill>
                <a:latin typeface="Calibri"/>
              </a:rPr>
              <a:t>CDI, CDD, stage, alternance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6263640" y="3657600"/>
            <a:ext cx="2743200" cy="201168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9525">
            <a:solidFill>
              <a:srgbClr val="E4DDD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Rectangle 30"/>
          <p:cNvSpPr/>
          <p:nvPr/>
        </p:nvSpPr>
        <p:spPr>
          <a:xfrm>
            <a:off x="6263640" y="3657600"/>
            <a:ext cx="2743200" cy="73152"/>
          </a:xfrm>
          <a:prstGeom prst="rect">
            <a:avLst/>
          </a:prstGeom>
          <a:solidFill>
            <a:srgbClr val="C4A57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6446520" y="4023360"/>
            <a:ext cx="2377440" cy="82296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800" b="1">
                <a:solidFill>
                  <a:srgbClr val="0F3D32"/>
                </a:solidFill>
                <a:latin typeface="Georgia"/>
              </a:rPr>
              <a:t>Prévision 3 mois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6446520" y="4892040"/>
            <a:ext cx="2377440" cy="50292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300" b="0">
                <a:solidFill>
                  <a:srgbClr val="5C6B66"/>
                </a:solidFill>
                <a:latin typeface="Calibri"/>
              </a:rPr>
              <a:t>projection de masse</a:t>
            </a:r>
          </a:p>
        </p:txBody>
      </p:sp>
      <p:sp>
        <p:nvSpPr>
          <p:cNvPr id="34" name="Rounded Rectangle 33"/>
          <p:cNvSpPr/>
          <p:nvPr/>
        </p:nvSpPr>
        <p:spPr>
          <a:xfrm>
            <a:off x="9144000" y="3657600"/>
            <a:ext cx="2743200" cy="201168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9525">
            <a:solidFill>
              <a:srgbClr val="E4DDD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Rectangle 34"/>
          <p:cNvSpPr/>
          <p:nvPr/>
        </p:nvSpPr>
        <p:spPr>
          <a:xfrm>
            <a:off x="9144000" y="3657600"/>
            <a:ext cx="2743200" cy="73152"/>
          </a:xfrm>
          <a:prstGeom prst="rect">
            <a:avLst/>
          </a:prstGeom>
          <a:solidFill>
            <a:srgbClr val="C4A57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9326880" y="4023360"/>
            <a:ext cx="2377440" cy="82296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800" b="1">
                <a:solidFill>
                  <a:srgbClr val="0F3D32"/>
                </a:solidFill>
                <a:latin typeface="Georgia"/>
              </a:rPr>
              <a:t>Export CSV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9326880" y="4892040"/>
            <a:ext cx="2377440" cy="50292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300" b="0">
                <a:solidFill>
                  <a:srgbClr val="5C6B66"/>
                </a:solidFill>
                <a:latin typeface="Calibri"/>
              </a:rPr>
              <a:t>pilotage + fichier de virement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502920" y="6565392"/>
            <a:ext cx="7315200" cy="219456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000" b="0">
                <a:solidFill>
                  <a:srgbClr val="5C6B66"/>
                </a:solidFill>
                <a:latin typeface="Calibri"/>
              </a:rPr>
              <a:t>PayRollFlow  ·  ANTARES DS  ·  Synthèse projet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10424160" y="6565392"/>
            <a:ext cx="1280160" cy="219456"/>
          </a:xfrm>
          <a:prstGeom prst="rect">
            <a:avLst/>
          </a:prstGeom>
          <a:noFill/>
        </p:spPr>
        <p:txBody>
          <a:bodyPr wrap="square" anchor="t"/>
          <a:lstStyle/>
          <a:p>
            <a:pPr algn="r"/>
            <a:r>
              <a:rPr sz="1000" b="0">
                <a:solidFill>
                  <a:srgbClr val="5C6B66"/>
                </a:solidFill>
                <a:latin typeface="Calibri"/>
              </a:rPr>
              <a:t>8  /  18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6F2E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320040"/>
            <a:ext cx="9144000" cy="27432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200" b="1">
                <a:solidFill>
                  <a:srgbClr val="A8864E"/>
                </a:solidFill>
                <a:latin typeface="Calibri"/>
              </a:rPr>
              <a:t>02  —  PAIE &amp; RH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594360"/>
            <a:ext cx="10972800" cy="45720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2800" b="1">
                <a:solidFill>
                  <a:srgbClr val="0F3D32"/>
                </a:solidFill>
                <a:latin typeface="Georgia"/>
              </a:rPr>
              <a:t>Du cycle de paie au dossier du salarié</a:t>
            </a:r>
          </a:p>
        </p:txBody>
      </p:sp>
      <p:sp>
        <p:nvSpPr>
          <p:cNvPr id="5" name="Rectangle 4"/>
          <p:cNvSpPr/>
          <p:nvPr/>
        </p:nvSpPr>
        <p:spPr>
          <a:xfrm>
            <a:off x="548640" y="1115568"/>
            <a:ext cx="502920" cy="64008"/>
          </a:xfrm>
          <a:prstGeom prst="rect">
            <a:avLst/>
          </a:prstGeom>
          <a:solidFill>
            <a:srgbClr val="C4A57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502920" y="1417320"/>
            <a:ext cx="5486400" cy="470916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9525">
            <a:solidFill>
              <a:srgbClr val="E4DDD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77240" y="1627632"/>
            <a:ext cx="5029200" cy="36576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2200" b="1">
                <a:solidFill>
                  <a:srgbClr val="0F3D32"/>
                </a:solidFill>
                <a:latin typeface="Georgia"/>
              </a:rPr>
              <a:t>Paie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77240" y="2148840"/>
            <a:ext cx="4937760" cy="3657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800"/>
              </a:spcAft>
            </a:pPr>
            <a:r>
              <a:rPr sz="1500">
                <a:solidFill>
                  <a:srgbClr val="1A2421"/>
                </a:solidFill>
                <a:latin typeface="Calibri"/>
              </a:rPr>
              <a:t>▸  Cycle : brouillon → calcul → validation → paiement</a:t>
            </a:r>
          </a:p>
          <a:p>
            <a:pPr algn="l">
              <a:spcAft>
                <a:spcPts val="800"/>
              </a:spcAft>
            </a:pPr>
            <a:r>
              <a:rPr sz="1500">
                <a:solidFill>
                  <a:srgbClr val="1A2421"/>
                </a:solidFill>
                <a:latin typeface="Calibri"/>
              </a:rPr>
              <a:t>▸  Anciennes versions de bulletins conservées</a:t>
            </a:r>
          </a:p>
          <a:p>
            <a:pPr algn="l">
              <a:spcAft>
                <a:spcPts val="800"/>
              </a:spcAft>
            </a:pPr>
            <a:r>
              <a:rPr sz="1500">
                <a:solidFill>
                  <a:srgbClr val="1A2421"/>
                </a:solidFill>
                <a:latin typeface="Calibri"/>
              </a:rPr>
              <a:t>▸  Simulateur : hausse % + prime, écart de charges</a:t>
            </a:r>
          </a:p>
          <a:p>
            <a:pPr algn="l">
              <a:spcAft>
                <a:spcPts val="800"/>
              </a:spcAft>
            </a:pPr>
            <a:r>
              <a:rPr sz="1500">
                <a:solidFill>
                  <a:srgbClr val="1A2421"/>
                </a:solidFill>
                <a:latin typeface="Calibri"/>
              </a:rPr>
              <a:t>▸  Calcul pas à pas (bases, taux, Fillon, PAS)</a:t>
            </a:r>
          </a:p>
          <a:p>
            <a:pPr algn="l">
              <a:spcAft>
                <a:spcPts val="800"/>
              </a:spcAft>
            </a:pPr>
            <a:r>
              <a:rPr sz="1500">
                <a:solidFill>
                  <a:srgbClr val="1A2421"/>
                </a:solidFill>
                <a:latin typeface="Calibri"/>
              </a:rPr>
              <a:t>▸  Plafond d’acompte (ratio paramétrable, 30 %)</a:t>
            </a:r>
          </a:p>
          <a:p>
            <a:pPr algn="l">
              <a:spcAft>
                <a:spcPts val="800"/>
              </a:spcAft>
            </a:pPr>
            <a:r>
              <a:rPr sz="1500">
                <a:solidFill>
                  <a:srgbClr val="1A2421"/>
                </a:solidFill>
                <a:latin typeface="Calibri"/>
              </a:rPr>
              <a:t>▸  Export CSV de virement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217920" y="1417320"/>
            <a:ext cx="5486400" cy="470916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9525">
            <a:solidFill>
              <a:srgbClr val="E4DDD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492240" y="1627632"/>
            <a:ext cx="5029200" cy="36576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2200" b="1">
                <a:solidFill>
                  <a:srgbClr val="0F3D32"/>
                </a:solidFill>
                <a:latin typeface="Georgia"/>
              </a:rPr>
              <a:t>RH &amp; portail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492240" y="2148840"/>
            <a:ext cx="4937760" cy="3657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800"/>
              </a:spcAft>
            </a:pPr>
            <a:r>
              <a:rPr sz="1500">
                <a:solidFill>
                  <a:srgbClr val="1A2421"/>
                </a:solidFill>
                <a:latin typeface="Calibri"/>
              </a:rPr>
              <a:t>▸  Congés CP / RTT / maladie / sans solde</a:t>
            </a:r>
          </a:p>
          <a:p>
            <a:pPr algn="l">
              <a:spcAft>
                <a:spcPts val="800"/>
              </a:spcAft>
            </a:pPr>
            <a:r>
              <a:rPr sz="1500">
                <a:solidFill>
                  <a:srgbClr val="1A2421"/>
                </a:solidFill>
                <a:latin typeface="Calibri"/>
              </a:rPr>
              <a:t>▸  Calendrier partagé, impact sur les jours du cycle</a:t>
            </a:r>
          </a:p>
          <a:p>
            <a:pPr algn="l">
              <a:spcAft>
                <a:spcPts val="800"/>
              </a:spcAft>
            </a:pPr>
            <a:r>
              <a:rPr sz="1500">
                <a:solidFill>
                  <a:srgbClr val="1A2421"/>
                </a:solidFill>
                <a:latin typeface="Calibri"/>
              </a:rPr>
              <a:t>▸  Alertes de fin de contrat (CDD Camille Roux)</a:t>
            </a:r>
          </a:p>
          <a:p>
            <a:pPr algn="l">
              <a:spcAft>
                <a:spcPts val="800"/>
              </a:spcAft>
            </a:pPr>
            <a:r>
              <a:rPr sz="1500">
                <a:solidFill>
                  <a:srgbClr val="1A2421"/>
                </a:solidFill>
                <a:latin typeface="Calibri"/>
              </a:rPr>
              <a:t>▸  Attestation de travail + certificat de salaire</a:t>
            </a:r>
          </a:p>
          <a:p>
            <a:pPr algn="l">
              <a:spcAft>
                <a:spcPts val="800"/>
              </a:spcAft>
            </a:pPr>
            <a:r>
              <a:rPr sz="1500">
                <a:solidFill>
                  <a:srgbClr val="1A2421"/>
                </a:solidFill>
                <a:latin typeface="Calibri"/>
              </a:rPr>
              <a:t>▸  Dossier : CNI, RIB, contrat, Vitale</a:t>
            </a:r>
          </a:p>
          <a:p>
            <a:pPr algn="l">
              <a:spcAft>
                <a:spcPts val="800"/>
              </a:spcAft>
            </a:pPr>
            <a:r>
              <a:rPr sz="1500">
                <a:solidFill>
                  <a:srgbClr val="1A2421"/>
                </a:solidFill>
                <a:latin typeface="Calibri"/>
              </a:rPr>
              <a:t>▸  Notifications in-app + journal d’audit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02920" y="6565392"/>
            <a:ext cx="7315200" cy="219456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000" b="0">
                <a:solidFill>
                  <a:srgbClr val="5C6B66"/>
                </a:solidFill>
                <a:latin typeface="Calibri"/>
              </a:rPr>
              <a:t>PayRollFlow  ·  ANTARES DS  ·  Synthèse projet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424160" y="6565392"/>
            <a:ext cx="1280160" cy="219456"/>
          </a:xfrm>
          <a:prstGeom prst="rect">
            <a:avLst/>
          </a:prstGeom>
          <a:noFill/>
        </p:spPr>
        <p:txBody>
          <a:bodyPr wrap="square" anchor="t"/>
          <a:lstStyle/>
          <a:p>
            <a:pPr algn="r"/>
            <a:r>
              <a:rPr sz="1000" b="0">
                <a:solidFill>
                  <a:srgbClr val="5C6B66"/>
                </a:solidFill>
                <a:latin typeface="Calibri"/>
              </a:rPr>
              <a:t>9  /  18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6F2E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320040"/>
            <a:ext cx="9144000" cy="27432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200" b="1">
                <a:solidFill>
                  <a:srgbClr val="A8864E"/>
                </a:solidFill>
                <a:latin typeface="Calibri"/>
              </a:rPr>
              <a:t>02  —  RÉSEAU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594360"/>
            <a:ext cx="10972800" cy="45720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2600" b="1">
                <a:solidFill>
                  <a:srgbClr val="0F3D32"/>
                </a:solidFill>
                <a:latin typeface="Georgia"/>
              </a:rPr>
              <a:t>Au-delà du bulletin : qui travaille avec qui</a:t>
            </a:r>
          </a:p>
        </p:txBody>
      </p:sp>
      <p:sp>
        <p:nvSpPr>
          <p:cNvPr id="5" name="Rectangle 4"/>
          <p:cNvSpPr/>
          <p:nvPr/>
        </p:nvSpPr>
        <p:spPr>
          <a:xfrm>
            <a:off x="548640" y="1115568"/>
            <a:ext cx="502920" cy="64008"/>
          </a:xfrm>
          <a:prstGeom prst="rect">
            <a:avLst/>
          </a:prstGeom>
          <a:solidFill>
            <a:srgbClr val="C4A57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48640" y="1371600"/>
            <a:ext cx="10972800" cy="45720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500" b="0">
                <a:solidFill>
                  <a:srgbClr val="5C6B66"/>
                </a:solidFill>
                <a:latin typeface="Calibri"/>
              </a:rPr>
              <a:t>Écran Réseau &amp; factures : salariés internes, clients internes, entreprises facturées, freelances, intérim, portage.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02920" y="2011680"/>
            <a:ext cx="2743200" cy="3977639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9525">
            <a:solidFill>
              <a:srgbClr val="E4DDD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502920" y="2011680"/>
            <a:ext cx="2743200" cy="91440"/>
          </a:xfrm>
          <a:prstGeom prst="rect">
            <a:avLst/>
          </a:prstGeom>
          <a:solidFill>
            <a:srgbClr val="C4A57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704088" y="2331720"/>
            <a:ext cx="2331720" cy="91440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2000" b="1">
                <a:solidFill>
                  <a:srgbClr val="0F3D32"/>
                </a:solidFill>
                <a:latin typeface="Georgia"/>
              </a:rPr>
              <a:t>Interne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04088" y="3291840"/>
            <a:ext cx="2331720" cy="219456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500" b="0">
                <a:solidFill>
                  <a:srgbClr val="5C6B66"/>
                </a:solidFill>
                <a:latin typeface="Calibri"/>
              </a:rPr>
              <a:t>Salariés PayRollFlow, clients internes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3383280" y="2011680"/>
            <a:ext cx="2743200" cy="3977639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9525">
            <a:solidFill>
              <a:srgbClr val="E4DDD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3383280" y="2011680"/>
            <a:ext cx="2743200" cy="91440"/>
          </a:xfrm>
          <a:prstGeom prst="rect">
            <a:avLst/>
          </a:prstGeom>
          <a:solidFill>
            <a:srgbClr val="C4A57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3584448" y="2331720"/>
            <a:ext cx="2331720" cy="91440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2000" b="1">
                <a:solidFill>
                  <a:srgbClr val="0F3D32"/>
                </a:solidFill>
                <a:latin typeface="Georgia"/>
              </a:rPr>
              <a:t>Externe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584448" y="3291840"/>
            <a:ext cx="2331720" cy="219456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500" b="0">
                <a:solidFill>
                  <a:srgbClr val="5C6B66"/>
                </a:solidFill>
                <a:latin typeface="Calibri"/>
              </a:rPr>
              <a:t>Entreprises facturées, SIRET, contact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6263640" y="2011680"/>
            <a:ext cx="2743200" cy="3977639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9525">
            <a:solidFill>
              <a:srgbClr val="E4DDD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6263640" y="2011680"/>
            <a:ext cx="2743200" cy="91440"/>
          </a:xfrm>
          <a:prstGeom prst="rect">
            <a:avLst/>
          </a:prstGeom>
          <a:solidFill>
            <a:srgbClr val="C4A57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464808" y="2331720"/>
            <a:ext cx="2331720" cy="91440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2000" b="1">
                <a:solidFill>
                  <a:srgbClr val="0F3D32"/>
                </a:solidFill>
                <a:latin typeface="Georgia"/>
              </a:rPr>
              <a:t>Partenaires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464808" y="3291840"/>
            <a:ext cx="2331720" cy="219456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500" b="0">
                <a:solidFill>
                  <a:srgbClr val="5C6B66"/>
                </a:solidFill>
                <a:latin typeface="Calibri"/>
              </a:rPr>
              <a:t>Freelance, auto-entrepreneur, intérim, portage, stagiaire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9144000" y="2011680"/>
            <a:ext cx="2743200" cy="3977639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9525">
            <a:solidFill>
              <a:srgbClr val="E4DDD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9144000" y="2011680"/>
            <a:ext cx="2743200" cy="91440"/>
          </a:xfrm>
          <a:prstGeom prst="rect">
            <a:avLst/>
          </a:prstGeom>
          <a:solidFill>
            <a:srgbClr val="C4A57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9345168" y="2331720"/>
            <a:ext cx="2331720" cy="91440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2000" b="1">
                <a:solidFill>
                  <a:srgbClr val="0F3D32"/>
                </a:solidFill>
                <a:latin typeface="Georgia"/>
              </a:rPr>
              <a:t>Factures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9345168" y="3291840"/>
            <a:ext cx="2331720" cy="219456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500" b="0">
                <a:solidFill>
                  <a:srgbClr val="5C6B66"/>
                </a:solidFill>
                <a:latin typeface="Calibri"/>
              </a:rPr>
              <a:t>À recevoir / à payer, HT + TVA, brouillon → payée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502920" y="6565392"/>
            <a:ext cx="7315200" cy="219456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000" b="0">
                <a:solidFill>
                  <a:srgbClr val="5C6B66"/>
                </a:solidFill>
                <a:latin typeface="Calibri"/>
              </a:rPr>
              <a:t>PayRollFlow  ·  ANTARES DS  ·  Synthèse projet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0424160" y="6565392"/>
            <a:ext cx="1280160" cy="219456"/>
          </a:xfrm>
          <a:prstGeom prst="rect">
            <a:avLst/>
          </a:prstGeom>
          <a:noFill/>
        </p:spPr>
        <p:txBody>
          <a:bodyPr wrap="square" anchor="t"/>
          <a:lstStyle/>
          <a:p>
            <a:pPr algn="r"/>
            <a:r>
              <a:rPr sz="1000" b="0">
                <a:solidFill>
                  <a:srgbClr val="5C6B66"/>
                </a:solidFill>
                <a:latin typeface="Calibri"/>
              </a:rPr>
              <a:t>10  /  18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6F2E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320040"/>
            <a:ext cx="9144000" cy="27432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200" b="1">
                <a:solidFill>
                  <a:srgbClr val="A8864E"/>
                </a:solidFill>
                <a:latin typeface="Calibri"/>
              </a:rPr>
              <a:t>03  —  TECHNIQUE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594360"/>
            <a:ext cx="10972800" cy="45720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2800" b="1">
                <a:solidFill>
                  <a:srgbClr val="0F3D32"/>
                </a:solidFill>
                <a:latin typeface="Georgia"/>
              </a:rPr>
              <a:t>Architecture microservices</a:t>
            </a:r>
          </a:p>
        </p:txBody>
      </p:sp>
      <p:sp>
        <p:nvSpPr>
          <p:cNvPr id="5" name="Rectangle 4"/>
          <p:cNvSpPr/>
          <p:nvPr/>
        </p:nvSpPr>
        <p:spPr>
          <a:xfrm>
            <a:off x="548640" y="1115568"/>
            <a:ext cx="502920" cy="64008"/>
          </a:xfrm>
          <a:prstGeom prst="rect">
            <a:avLst/>
          </a:prstGeom>
          <a:solidFill>
            <a:srgbClr val="C4A57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411480" y="1463040"/>
            <a:ext cx="1847088" cy="3246120"/>
          </a:xfrm>
          <a:prstGeom prst="roundRect">
            <a:avLst>
              <a:gd name="adj" fmla="val 8000"/>
            </a:avLst>
          </a:prstGeom>
          <a:solidFill>
            <a:srgbClr val="0F3D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21208" y="1645920"/>
            <a:ext cx="1627632" cy="64008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500" b="1">
                <a:solidFill>
                  <a:srgbClr val="C4A574"/>
                </a:solidFill>
                <a:latin typeface="Georgia"/>
              </a:rPr>
              <a:t>Navigateur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21208" y="2331720"/>
            <a:ext cx="1627632" cy="64008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200" b="1">
                <a:solidFill>
                  <a:srgbClr val="FFFFFF"/>
                </a:solidFill>
                <a:latin typeface="Calibri"/>
              </a:rPr>
              <a:t>Vite + React  :45217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21208" y="3063240"/>
            <a:ext cx="1627632" cy="137160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300" b="0">
                <a:solidFill>
                  <a:srgbClr val="D7E6E0"/>
                </a:solidFill>
                <a:latin typeface="Calibri"/>
              </a:rPr>
              <a:t>Interface admin / espace, proxy /api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2350008" y="1463040"/>
            <a:ext cx="1847088" cy="3246120"/>
          </a:xfrm>
          <a:prstGeom prst="roundRect">
            <a:avLst>
              <a:gd name="adj" fmla="val 8000"/>
            </a:avLst>
          </a:prstGeom>
          <a:solidFill>
            <a:srgbClr val="0F3D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2459736" y="1645920"/>
            <a:ext cx="1627632" cy="64008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500" b="1">
                <a:solidFill>
                  <a:srgbClr val="C4A574"/>
                </a:solidFill>
                <a:latin typeface="Georgia"/>
              </a:rPr>
              <a:t>Passerelle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2459736" y="2331720"/>
            <a:ext cx="1627632" cy="64008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200" b="1">
                <a:solidFill>
                  <a:srgbClr val="FFFFFF"/>
                </a:solidFill>
                <a:latin typeface="Calibri"/>
              </a:rPr>
              <a:t>Express  :45218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2459736" y="3063240"/>
            <a:ext cx="1627632" cy="137160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300" b="0">
                <a:solidFill>
                  <a:srgbClr val="D7E6E0"/>
                </a:solidFill>
                <a:latin typeface="Calibri"/>
              </a:rPr>
              <a:t>Routage, cookies, santé des services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4288536" y="1463040"/>
            <a:ext cx="1847088" cy="324612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9525">
            <a:solidFill>
              <a:srgbClr val="E4DDD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4398264" y="1645920"/>
            <a:ext cx="1627632" cy="64008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500" b="1">
                <a:solidFill>
                  <a:srgbClr val="A8864E"/>
                </a:solidFill>
                <a:latin typeface="Georgia"/>
              </a:rPr>
              <a:t>Auth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398264" y="2331720"/>
            <a:ext cx="1627632" cy="64008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200" b="1">
                <a:solidFill>
                  <a:srgbClr val="0F3D32"/>
                </a:solidFill>
                <a:latin typeface="Calibri"/>
              </a:rPr>
              <a:t>:45231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398264" y="3063240"/>
            <a:ext cx="1627632" cy="137160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300" b="0">
                <a:solidFill>
                  <a:srgbClr val="5C6B66"/>
                </a:solidFill>
                <a:latin typeface="Calibri"/>
              </a:rPr>
              <a:t>Login local ou Supabase, JWT cookie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6227064" y="1463040"/>
            <a:ext cx="1847088" cy="324612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9525">
            <a:solidFill>
              <a:srgbClr val="E4DDD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336792" y="1645920"/>
            <a:ext cx="1627632" cy="64008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500" b="1">
                <a:solidFill>
                  <a:srgbClr val="A8864E"/>
                </a:solidFill>
                <a:latin typeface="Georgia"/>
              </a:rPr>
              <a:t>RH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336792" y="2331720"/>
            <a:ext cx="1627632" cy="64008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200" b="1">
                <a:solidFill>
                  <a:srgbClr val="0F3D32"/>
                </a:solidFill>
                <a:latin typeface="Calibri"/>
              </a:rPr>
              <a:t>:45232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336792" y="3063240"/>
            <a:ext cx="1627632" cy="137160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300" b="0">
                <a:solidFill>
                  <a:srgbClr val="5C6B66"/>
                </a:solidFill>
                <a:latin typeface="Calibri"/>
              </a:rPr>
              <a:t>Employés, départements, réseau, profil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8165592" y="1463040"/>
            <a:ext cx="1847088" cy="324612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9525">
            <a:solidFill>
              <a:srgbClr val="E4DDD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8275320" y="1645920"/>
            <a:ext cx="1627632" cy="64008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500" b="1">
                <a:solidFill>
                  <a:srgbClr val="A8864E"/>
                </a:solidFill>
                <a:latin typeface="Georgia"/>
              </a:rPr>
              <a:t>Paie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8275320" y="2331720"/>
            <a:ext cx="1627632" cy="64008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200" b="1">
                <a:solidFill>
                  <a:srgbClr val="0F3D32"/>
                </a:solidFill>
                <a:latin typeface="Calibri"/>
              </a:rPr>
              <a:t>:45233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275320" y="3063240"/>
            <a:ext cx="1627632" cy="137160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300" b="0">
                <a:solidFill>
                  <a:srgbClr val="5C6B66"/>
                </a:solidFill>
                <a:latin typeface="Calibri"/>
              </a:rPr>
              <a:t>Cycles, bulletins, acomptes, KPI, assistant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10104120" y="1463040"/>
            <a:ext cx="1847088" cy="324612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9525">
            <a:solidFill>
              <a:srgbClr val="E4DDD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10213848" y="1645920"/>
            <a:ext cx="1627632" cy="64008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500" b="1">
                <a:solidFill>
                  <a:srgbClr val="A8864E"/>
                </a:solidFill>
                <a:latin typeface="Georgia"/>
              </a:rPr>
              <a:t>Temps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10213848" y="2331720"/>
            <a:ext cx="1627632" cy="64008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200" b="1">
                <a:solidFill>
                  <a:srgbClr val="0F3D32"/>
                </a:solidFill>
                <a:latin typeface="Calibri"/>
              </a:rPr>
              <a:t>:45234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10213848" y="3063240"/>
            <a:ext cx="1627632" cy="137160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300" b="0">
                <a:solidFill>
                  <a:srgbClr val="5C6B66"/>
                </a:solidFill>
                <a:latin typeface="Calibri"/>
              </a:rPr>
              <a:t>Congés, dossiers, notifications, audit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502920" y="4892040"/>
            <a:ext cx="11155680" cy="123444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9525">
            <a:solidFill>
              <a:srgbClr val="E4DDD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777240" y="5029200"/>
            <a:ext cx="10698480" cy="96012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500" b="0">
                <a:solidFill>
                  <a:srgbClr val="5C6B66"/>
                </a:solidFill>
                <a:latin typeface="Calibri"/>
              </a:rPr>
              <a:t>Données : JSON partagé (store.json) avec verrou de fichier entre services. Docker Compose : 6 images. Node 22, Express 5, Zod.
Frontend : React 19, TypeScript, Tailwind, shadcn/ui, React Router, Framer Motion. Pas de Next.js.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502920" y="6565392"/>
            <a:ext cx="7315200" cy="219456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000" b="0">
                <a:solidFill>
                  <a:srgbClr val="5C6B66"/>
                </a:solidFill>
                <a:latin typeface="Calibri"/>
              </a:rPr>
              <a:t>PayRollFlow  ·  ANTARES DS  ·  Synthèse projet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10424160" y="6565392"/>
            <a:ext cx="1280160" cy="219456"/>
          </a:xfrm>
          <a:prstGeom prst="rect">
            <a:avLst/>
          </a:prstGeom>
          <a:noFill/>
        </p:spPr>
        <p:txBody>
          <a:bodyPr wrap="square" anchor="t"/>
          <a:lstStyle/>
          <a:p>
            <a:pPr algn="r"/>
            <a:r>
              <a:rPr sz="1000" b="0">
                <a:solidFill>
                  <a:srgbClr val="5C6B66"/>
                </a:solidFill>
                <a:latin typeface="Calibri"/>
              </a:rPr>
              <a:t>11  /  18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6F2E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320040"/>
            <a:ext cx="9144000" cy="27432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200" b="1">
                <a:solidFill>
                  <a:srgbClr val="A8864E"/>
                </a:solidFill>
                <a:latin typeface="Calibri"/>
              </a:rPr>
              <a:t>03  —  EXPÉRIENCE &amp; ACCÈS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594360"/>
            <a:ext cx="10972800" cy="45720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2800" b="1">
                <a:solidFill>
                  <a:srgbClr val="0F3D32"/>
                </a:solidFill>
                <a:latin typeface="Georgia"/>
              </a:rPr>
              <a:t>Rendu soigné, accès nominatif</a:t>
            </a:r>
          </a:p>
        </p:txBody>
      </p:sp>
      <p:sp>
        <p:nvSpPr>
          <p:cNvPr id="5" name="Rectangle 4"/>
          <p:cNvSpPr/>
          <p:nvPr/>
        </p:nvSpPr>
        <p:spPr>
          <a:xfrm>
            <a:off x="548640" y="1115568"/>
            <a:ext cx="502920" cy="64008"/>
          </a:xfrm>
          <a:prstGeom prst="rect">
            <a:avLst/>
          </a:prstGeom>
          <a:solidFill>
            <a:srgbClr val="C4A57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502920" y="1417320"/>
            <a:ext cx="1810512" cy="123444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9525">
            <a:solidFill>
              <a:srgbClr val="E4DDD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12648" y="1554480"/>
            <a:ext cx="1600200" cy="50292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300" b="1">
                <a:solidFill>
                  <a:srgbClr val="0F3D32"/>
                </a:solidFill>
                <a:latin typeface="Georgia"/>
              </a:rPr>
              <a:t>shadcn/ui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12648" y="2103120"/>
            <a:ext cx="1600200" cy="36576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200" b="0">
                <a:solidFill>
                  <a:srgbClr val="5C6B66"/>
                </a:solidFill>
                <a:latin typeface="Calibri"/>
              </a:rPr>
              <a:t>Composants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2423160" y="1417320"/>
            <a:ext cx="1810512" cy="123444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9525">
            <a:solidFill>
              <a:srgbClr val="E4DDD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2532888" y="1554480"/>
            <a:ext cx="1600200" cy="50292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300" b="1">
                <a:solidFill>
                  <a:srgbClr val="0F3D32"/>
                </a:solidFill>
                <a:latin typeface="Georgia"/>
              </a:rPr>
              <a:t>Lucide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2532888" y="2103120"/>
            <a:ext cx="1600200" cy="36576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200" b="0">
                <a:solidFill>
                  <a:srgbClr val="5C6B66"/>
                </a:solidFill>
                <a:latin typeface="Calibri"/>
              </a:rPr>
              <a:t>Icônes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4343400" y="1417320"/>
            <a:ext cx="1810512" cy="123444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9525">
            <a:solidFill>
              <a:srgbClr val="E4DDD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4453128" y="1554480"/>
            <a:ext cx="1600200" cy="50292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300" b="1">
                <a:solidFill>
                  <a:srgbClr val="0F3D32"/>
                </a:solidFill>
                <a:latin typeface="Georgia"/>
              </a:rPr>
              <a:t>Unsplash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453128" y="2103120"/>
            <a:ext cx="1600200" cy="36576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200" b="0">
                <a:solidFill>
                  <a:srgbClr val="5C6B66"/>
                </a:solidFill>
                <a:latin typeface="Calibri"/>
              </a:rPr>
              <a:t>Photos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6263640" y="1417320"/>
            <a:ext cx="1810512" cy="123444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9525">
            <a:solidFill>
              <a:srgbClr val="E4DDD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373368" y="1554480"/>
            <a:ext cx="1600200" cy="50292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300" b="1">
                <a:solidFill>
                  <a:srgbClr val="0F3D32"/>
                </a:solidFill>
                <a:latin typeface="Georgia"/>
              </a:rPr>
              <a:t>Simple Icons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373368" y="2103120"/>
            <a:ext cx="1600200" cy="36576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200" b="0">
                <a:solidFill>
                  <a:srgbClr val="5C6B66"/>
                </a:solidFill>
                <a:latin typeface="Calibri"/>
              </a:rPr>
              <a:t>Logos tech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8183880" y="1417320"/>
            <a:ext cx="1810512" cy="123444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9525">
            <a:solidFill>
              <a:srgbClr val="E4DDD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8293608" y="1554480"/>
            <a:ext cx="1600200" cy="50292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300" b="1">
                <a:solidFill>
                  <a:srgbClr val="0F3D32"/>
                </a:solidFill>
                <a:latin typeface="Georgia"/>
              </a:rPr>
              <a:t>Framer Motion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293608" y="2103120"/>
            <a:ext cx="1600200" cy="36576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200" b="0">
                <a:solidFill>
                  <a:srgbClr val="5C6B66"/>
                </a:solidFill>
                <a:latin typeface="Calibri"/>
              </a:rPr>
              <a:t>Animations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10104120" y="1417320"/>
            <a:ext cx="1810512" cy="123444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9525">
            <a:solidFill>
              <a:srgbClr val="E4DDD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10213848" y="1554480"/>
            <a:ext cx="1600200" cy="50292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300" b="1">
                <a:solidFill>
                  <a:srgbClr val="0F3D32"/>
                </a:solidFill>
                <a:latin typeface="Georgia"/>
              </a:rPr>
              <a:t>CSS aurora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0213848" y="2103120"/>
            <a:ext cx="1600200" cy="36576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200" b="0">
                <a:solidFill>
                  <a:srgbClr val="5C6B66"/>
                </a:solidFill>
                <a:latin typeface="Calibri"/>
              </a:rPr>
              <a:t>Fonds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502920" y="2880360"/>
            <a:ext cx="5486400" cy="324612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9525">
            <a:solidFill>
              <a:srgbClr val="E4DDD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777240" y="3063240"/>
            <a:ext cx="5029200" cy="36576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800" b="1">
                <a:solidFill>
                  <a:srgbClr val="0F3D32"/>
                </a:solidFill>
                <a:latin typeface="Georgia"/>
              </a:rPr>
              <a:t>Authentification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777240" y="3520440"/>
            <a:ext cx="4937760" cy="23774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800"/>
              </a:spcAft>
            </a:pPr>
            <a:r>
              <a:rPr sz="1400">
                <a:solidFill>
                  <a:srgbClr val="1A2421"/>
                </a:solidFill>
                <a:latin typeface="Calibri"/>
              </a:rPr>
              <a:t>▸  Pas d’inscription : le RH crée le compte</a:t>
            </a:r>
          </a:p>
          <a:p>
            <a:pPr algn="l">
              <a:spcAft>
                <a:spcPts val="800"/>
              </a:spcAft>
            </a:pPr>
            <a:r>
              <a:rPr sz="1400">
                <a:solidFill>
                  <a:srgbClr val="1A2421"/>
                </a:solidFill>
                <a:latin typeface="Calibri"/>
              </a:rPr>
              <a:t>▸  Supabase Auth si configuré, sinon login local</a:t>
            </a:r>
          </a:p>
          <a:p>
            <a:pPr algn="l">
              <a:spcAft>
                <a:spcPts val="800"/>
              </a:spcAft>
            </a:pPr>
            <a:r>
              <a:rPr sz="1400">
                <a:solidFill>
                  <a:srgbClr val="1A2421"/>
                </a:solidFill>
                <a:latin typeface="Calibri"/>
              </a:rPr>
              <a:t>▸  Session = cookie httpOnly payrollflow_token</a:t>
            </a:r>
          </a:p>
          <a:p>
            <a:pPr algn="l">
              <a:spcAft>
                <a:spcPts val="800"/>
              </a:spcAft>
            </a:pPr>
            <a:r>
              <a:rPr sz="1400">
                <a:solidFill>
                  <a:srgbClr val="1A2421"/>
                </a:solidFill>
                <a:latin typeface="Calibri"/>
              </a:rPr>
              <a:t>▸  Admin vs employé selon la fiche, pas un signup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6217920" y="2880360"/>
            <a:ext cx="5486400" cy="324612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9525">
            <a:solidFill>
              <a:srgbClr val="E4DDD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6492240" y="3063240"/>
            <a:ext cx="5029200" cy="36576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800" b="1">
                <a:solidFill>
                  <a:srgbClr val="0F3D32"/>
                </a:solidFill>
                <a:latin typeface="Georgia"/>
              </a:rPr>
              <a:t>Comptes de démonstration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6492240" y="3520440"/>
            <a:ext cx="4937760" cy="23774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800"/>
              </a:spcAft>
            </a:pPr>
            <a:r>
              <a:rPr sz="1400">
                <a:solidFill>
                  <a:srgbClr val="1A2421"/>
                </a:solidFill>
                <a:latin typeface="Calibri"/>
              </a:rPr>
              <a:t>▸  admin@payrollflow.demo  /  AdminHorizon2026!</a:t>
            </a:r>
          </a:p>
          <a:p>
            <a:pPr algn="l">
              <a:spcAft>
                <a:spcPts val="800"/>
              </a:spcAft>
            </a:pPr>
            <a:r>
              <a:rPr sz="1400">
                <a:solidFill>
                  <a:srgbClr val="1A2421"/>
                </a:solidFill>
                <a:latin typeface="Calibri"/>
              </a:rPr>
              <a:t>▸  yao.lassidan@payrollflow.demo  /  Horizon2026!</a:t>
            </a:r>
          </a:p>
          <a:p>
            <a:pPr algn="l">
              <a:spcAft>
                <a:spcPts val="800"/>
              </a:spcAft>
            </a:pPr>
            <a:r>
              <a:rPr sz="1400">
                <a:solidFill>
                  <a:srgbClr val="1A2421"/>
                </a:solidFill>
                <a:latin typeface="Calibri"/>
              </a:rPr>
              <a:t>▸  Autres salariés : Horizon2026!</a:t>
            </a:r>
          </a:p>
          <a:p>
            <a:pPr algn="l">
              <a:spcAft>
                <a:spcPts val="800"/>
              </a:spcAft>
            </a:pPr>
            <a:r>
              <a:rPr sz="1400">
                <a:solidFill>
                  <a:srgbClr val="1A2421"/>
                </a:solidFill>
                <a:latin typeface="Calibri"/>
              </a:rPr>
              <a:t>▸  Jeu : ANTARES DS, cycles juillet / août 2026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502920" y="6565392"/>
            <a:ext cx="7315200" cy="219456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000" b="0">
                <a:solidFill>
                  <a:srgbClr val="5C6B66"/>
                </a:solidFill>
                <a:latin typeface="Calibri"/>
              </a:rPr>
              <a:t>PayRollFlow  ·  ANTARES DS  ·  Synthèse projet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10424160" y="6565392"/>
            <a:ext cx="1280160" cy="219456"/>
          </a:xfrm>
          <a:prstGeom prst="rect">
            <a:avLst/>
          </a:prstGeom>
          <a:noFill/>
        </p:spPr>
        <p:txBody>
          <a:bodyPr wrap="square" anchor="t"/>
          <a:lstStyle/>
          <a:p>
            <a:pPr algn="r"/>
            <a:r>
              <a:rPr sz="1000" b="0">
                <a:solidFill>
                  <a:srgbClr val="5C6B66"/>
                </a:solidFill>
                <a:latin typeface="Calibri"/>
              </a:rPr>
              <a:t>12  /  18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6F2E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320040"/>
            <a:ext cx="9144000" cy="27432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200" b="1">
                <a:solidFill>
                  <a:srgbClr val="A8864E"/>
                </a:solidFill>
                <a:latin typeface="Calibri"/>
              </a:rPr>
              <a:t>03  —  SÉCURITÉ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594360"/>
            <a:ext cx="10972800" cy="45720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2800" b="1">
                <a:solidFill>
                  <a:srgbClr val="0F3D32"/>
                </a:solidFill>
                <a:latin typeface="Georgia"/>
              </a:rPr>
              <a:t>Garde-fous demandés et en place</a:t>
            </a:r>
          </a:p>
        </p:txBody>
      </p:sp>
      <p:sp>
        <p:nvSpPr>
          <p:cNvPr id="5" name="Rectangle 4"/>
          <p:cNvSpPr/>
          <p:nvPr/>
        </p:nvSpPr>
        <p:spPr>
          <a:xfrm>
            <a:off x="548640" y="1115568"/>
            <a:ext cx="502920" cy="64008"/>
          </a:xfrm>
          <a:prstGeom prst="rect">
            <a:avLst/>
          </a:prstGeom>
          <a:solidFill>
            <a:srgbClr val="C4A57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502920" y="1417320"/>
            <a:ext cx="3657600" cy="210312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9525">
            <a:solidFill>
              <a:srgbClr val="E4DDD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31520" y="1673352"/>
            <a:ext cx="3200400" cy="45720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600" b="1">
                <a:solidFill>
                  <a:srgbClr val="0F3D32"/>
                </a:solidFill>
                <a:latin typeface="Georgia"/>
              </a:rPr>
              <a:t>JWT_SECRET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31520" y="2240280"/>
            <a:ext cx="3200400" cy="100584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400" b="0">
                <a:solidFill>
                  <a:srgbClr val="5C6B66"/>
                </a:solidFill>
                <a:latin typeface="Calibri"/>
              </a:rPr>
              <a:t>Obligatoire en production (≥ 16 caractères). Secret de dev interdit d’exposer.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343400" y="1417320"/>
            <a:ext cx="3657600" cy="210312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9525">
            <a:solidFill>
              <a:srgbClr val="E4DDD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4572000" y="1673352"/>
            <a:ext cx="3200400" cy="45720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600" b="1">
                <a:solidFill>
                  <a:srgbClr val="0F3D32"/>
                </a:solidFill>
                <a:latin typeface="Georgia"/>
              </a:rPr>
              <a:t>Cookie httpOnly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572000" y="2240280"/>
            <a:ext cx="3200400" cy="100584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400" b="0">
                <a:solidFill>
                  <a:srgbClr val="5C6B66"/>
                </a:solidFill>
                <a:latin typeface="Calibri"/>
              </a:rPr>
              <a:t>Pas de jeton dans localStorage. SameSite Lax, Secure en prod. 12 h.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8183880" y="1417320"/>
            <a:ext cx="3657600" cy="210312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9525">
            <a:solidFill>
              <a:srgbClr val="E4DDD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8412480" y="1673352"/>
            <a:ext cx="3200400" cy="45720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600" b="1">
                <a:solidFill>
                  <a:srgbClr val="0F3D32"/>
                </a:solidFill>
                <a:latin typeface="Georgia"/>
              </a:rPr>
              <a:t>Rate limit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412480" y="2240280"/>
            <a:ext cx="3200400" cy="100584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400" b="0">
                <a:solidFill>
                  <a:srgbClr val="5C6B66"/>
                </a:solidFill>
                <a:latin typeface="Calibri"/>
              </a:rPr>
              <a:t>5 échecs de login / 15 min (IP + email) → HTTP 429.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502920" y="3703320"/>
            <a:ext cx="3657600" cy="210312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9525">
            <a:solidFill>
              <a:srgbClr val="E4DDD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731520" y="3959352"/>
            <a:ext cx="3200400" cy="45720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600" b="1">
                <a:solidFill>
                  <a:srgbClr val="0F3D32"/>
                </a:solidFill>
                <a:latin typeface="Georgia"/>
              </a:rPr>
              <a:t>Plafond d’acompte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731520" y="4526280"/>
            <a:ext cx="3200400" cy="100584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400" b="0">
                <a:solidFill>
                  <a:srgbClr val="5C6B66"/>
                </a:solidFill>
                <a:latin typeface="Calibri"/>
              </a:rPr>
              <a:t>Ratio société (30 % par défaut) pour limiter le risque de trop-perçu.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4343400" y="3703320"/>
            <a:ext cx="3657600" cy="210312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9525">
            <a:solidFill>
              <a:srgbClr val="E4DDD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4572000" y="3959352"/>
            <a:ext cx="3200400" cy="45720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600" b="1">
                <a:solidFill>
                  <a:srgbClr val="0F3D32"/>
                </a:solidFill>
                <a:latin typeface="Georgia"/>
              </a:rPr>
              <a:t>Verrou store.json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572000" y="4526280"/>
            <a:ext cx="3200400" cy="100584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400" b="0">
                <a:solidFill>
                  <a:srgbClr val="5C6B66"/>
                </a:solidFill>
                <a:latin typeface="Calibri"/>
              </a:rPr>
              <a:t>Lock fichier entre microservices, écriture atomique.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8183880" y="3703320"/>
            <a:ext cx="3657600" cy="210312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9525">
            <a:solidFill>
              <a:srgbClr val="E4DDD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8412480" y="3959352"/>
            <a:ext cx="3200400" cy="45720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600" b="1">
                <a:solidFill>
                  <a:srgbClr val="0F3D32"/>
                </a:solidFill>
                <a:latin typeface="Georgia"/>
              </a:rPr>
              <a:t>CSV maîtrisé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8412480" y="4526280"/>
            <a:ext cx="3200400" cy="100584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400" b="0">
                <a:solidFill>
                  <a:srgbClr val="5C6B66"/>
                </a:solidFill>
                <a:latin typeface="Calibri"/>
              </a:rPr>
              <a:t>Import employés borné, export virement côté admin authentifié.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502920" y="6565392"/>
            <a:ext cx="7315200" cy="219456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000" b="0">
                <a:solidFill>
                  <a:srgbClr val="5C6B66"/>
                </a:solidFill>
                <a:latin typeface="Calibri"/>
              </a:rPr>
              <a:t>PayRollFlow  ·  ANTARES DS  ·  Synthèse projet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0424160" y="6565392"/>
            <a:ext cx="1280160" cy="219456"/>
          </a:xfrm>
          <a:prstGeom prst="rect">
            <a:avLst/>
          </a:prstGeom>
          <a:noFill/>
        </p:spPr>
        <p:txBody>
          <a:bodyPr wrap="square" anchor="t"/>
          <a:lstStyle/>
          <a:p>
            <a:pPr algn="r"/>
            <a:r>
              <a:rPr sz="1000" b="0">
                <a:solidFill>
                  <a:srgbClr val="5C6B66"/>
                </a:solidFill>
                <a:latin typeface="Calibri"/>
              </a:rPr>
              <a:t>13  /  18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6F2E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320040"/>
            <a:ext cx="9144000" cy="27432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200" b="1">
                <a:solidFill>
                  <a:srgbClr val="A8864E"/>
                </a:solidFill>
                <a:latin typeface="Calibri"/>
              </a:rPr>
              <a:t>04  —  ORACLE CLOUD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594360"/>
            <a:ext cx="10972800" cy="50292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2600" b="1">
                <a:solidFill>
                  <a:srgbClr val="0F3D32"/>
                </a:solidFill>
                <a:latin typeface="Georgia"/>
              </a:rPr>
              <a:t>Héberger l’app sur l’instance déjà créée</a:t>
            </a:r>
          </a:p>
        </p:txBody>
      </p:sp>
      <p:sp>
        <p:nvSpPr>
          <p:cNvPr id="5" name="Rectangle 4"/>
          <p:cNvSpPr/>
          <p:nvPr/>
        </p:nvSpPr>
        <p:spPr>
          <a:xfrm>
            <a:off x="548640" y="1170432"/>
            <a:ext cx="502920" cy="64008"/>
          </a:xfrm>
          <a:prstGeom prst="rect">
            <a:avLst/>
          </a:prstGeom>
          <a:solidFill>
            <a:srgbClr val="C4A57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48640" y="1371600"/>
            <a:ext cx="11064240" cy="45720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500" b="0">
                <a:solidFill>
                  <a:srgbClr val="5C6B66"/>
                </a:solidFill>
                <a:latin typeface="Calibri"/>
              </a:rPr>
              <a:t>Le compte Oracle Cloud existe. L’instance Compute et le VCN / VNet aussi : on ne les recrée pas, on s’en sert.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02920" y="1965960"/>
            <a:ext cx="2743200" cy="4069080"/>
          </a:xfrm>
          <a:prstGeom prst="roundRect">
            <a:avLst>
              <a:gd name="adj" fmla="val 8000"/>
            </a:avLst>
          </a:prstGeom>
          <a:solidFill>
            <a:srgbClr val="0F3D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85800" y="2194560"/>
            <a:ext cx="2377440" cy="82296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600" b="1">
                <a:solidFill>
                  <a:srgbClr val="C4A574"/>
                </a:solidFill>
                <a:latin typeface="Georgia"/>
              </a:rPr>
              <a:t>Déjà en place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85800" y="3108960"/>
            <a:ext cx="2377440" cy="256032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500" b="0">
                <a:solidFill>
                  <a:srgbClr val="D7E6E0"/>
                </a:solidFill>
                <a:latin typeface="Calibri"/>
              </a:rPr>
              <a:t>Instance Compute
VCN / sous-réseaux
Compte tenancy Oracle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3383280" y="1965960"/>
            <a:ext cx="2743200" cy="406908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9525">
            <a:solidFill>
              <a:srgbClr val="E4DDD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3566160" y="2194560"/>
            <a:ext cx="2377440" cy="82296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600" b="1">
                <a:solidFill>
                  <a:srgbClr val="0F3D32"/>
                </a:solidFill>
                <a:latin typeface="Georgia"/>
              </a:rPr>
              <a:t>À poser sur la VM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566160" y="3108960"/>
            <a:ext cx="2377440" cy="256032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500" b="0">
                <a:solidFill>
                  <a:srgbClr val="5C6B66"/>
                </a:solidFill>
                <a:latin typeface="Calibri"/>
              </a:rPr>
              <a:t>PayRollFlow (Docker)
Service SQL (PostgreSQL)
Reverse proxy / ports NSG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263640" y="1965960"/>
            <a:ext cx="2743200" cy="406908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9525">
            <a:solidFill>
              <a:srgbClr val="E4DDD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446520" y="2194560"/>
            <a:ext cx="2377440" cy="82296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600" b="1">
                <a:solidFill>
                  <a:srgbClr val="0F3D32"/>
                </a:solidFill>
                <a:latin typeface="Georgia"/>
              </a:rPr>
              <a:t>Identité tenancy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446520" y="3108960"/>
            <a:ext cx="2377440" cy="256032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500" b="0">
                <a:solidFill>
                  <a:srgbClr val="5C6B66"/>
                </a:solidFill>
                <a:latin typeface="Calibri"/>
              </a:rPr>
              <a:t>Users dans Oracle Cloud
Groupes + rôles
Connexion à l’application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9144000" y="1965960"/>
            <a:ext cx="2743200" cy="406908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9525">
            <a:solidFill>
              <a:srgbClr val="E4DDD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9326880" y="2194560"/>
            <a:ext cx="2377440" cy="82296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600" b="1">
                <a:solidFill>
                  <a:srgbClr val="0F3D32"/>
                </a:solidFill>
                <a:latin typeface="Georgia"/>
              </a:rPr>
              <a:t>Observabilité VM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9326880" y="3108960"/>
            <a:ext cx="2377440" cy="256032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500" b="0">
                <a:solidFill>
                  <a:srgbClr val="5C6B66"/>
                </a:solidFill>
                <a:latin typeface="Calibri"/>
              </a:rPr>
              <a:t>Prometheus + Grafana
ELK (Elastic, Filebeat, Kibana)
Pas les alarmes cloud OCI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502920" y="6565392"/>
            <a:ext cx="7315200" cy="219456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000" b="0">
                <a:solidFill>
                  <a:srgbClr val="5C6B66"/>
                </a:solidFill>
                <a:latin typeface="Calibri"/>
              </a:rPr>
              <a:t>PayRollFlow  ·  ANTARES DS  ·  Synthèse projet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0424160" y="6565392"/>
            <a:ext cx="1280160" cy="219456"/>
          </a:xfrm>
          <a:prstGeom prst="rect">
            <a:avLst/>
          </a:prstGeom>
          <a:noFill/>
        </p:spPr>
        <p:txBody>
          <a:bodyPr wrap="square" anchor="t"/>
          <a:lstStyle/>
          <a:p>
            <a:pPr algn="r"/>
            <a:r>
              <a:rPr sz="1000" b="0">
                <a:solidFill>
                  <a:srgbClr val="5C6B66"/>
                </a:solidFill>
                <a:latin typeface="Calibri"/>
              </a:rPr>
              <a:t>14  /  18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6F2E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320040"/>
            <a:ext cx="9144000" cy="27432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200" b="1">
                <a:solidFill>
                  <a:srgbClr val="A8864E"/>
                </a:solidFill>
                <a:latin typeface="Calibri"/>
              </a:rPr>
              <a:t>04  —  IDENTITÉ ORACLE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594360"/>
            <a:ext cx="10972800" cy="50292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2600" b="1">
                <a:solidFill>
                  <a:srgbClr val="0F3D32"/>
                </a:solidFill>
                <a:latin typeface="Georgia"/>
              </a:rPr>
              <a:t>Créer des comptes, attribuer groupes et rôles</a:t>
            </a:r>
          </a:p>
        </p:txBody>
      </p:sp>
      <p:sp>
        <p:nvSpPr>
          <p:cNvPr id="5" name="Rectangle 4"/>
          <p:cNvSpPr/>
          <p:nvPr/>
        </p:nvSpPr>
        <p:spPr>
          <a:xfrm>
            <a:off x="548640" y="1170432"/>
            <a:ext cx="502920" cy="64008"/>
          </a:xfrm>
          <a:prstGeom prst="rect">
            <a:avLst/>
          </a:prstGeom>
          <a:solidFill>
            <a:srgbClr val="C4A57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48640" y="1371600"/>
            <a:ext cx="11064240" cy="50292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500" b="0">
                <a:solidFill>
                  <a:srgbClr val="5C6B66"/>
                </a:solidFill>
                <a:latin typeface="Calibri"/>
              </a:rPr>
              <a:t>Dans le compte Oracle : Identity → Users / Groups. Ces comptes sont ceux qui se connectent à PayRollFlow.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02920" y="2011680"/>
            <a:ext cx="5486400" cy="402336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9525">
            <a:solidFill>
              <a:srgbClr val="E4DDD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77240" y="2194560"/>
            <a:ext cx="5029200" cy="36576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400" b="1">
                <a:solidFill>
                  <a:srgbClr val="A8864E"/>
                </a:solidFill>
                <a:latin typeface="Calibri"/>
              </a:rPr>
              <a:t>Groupe Oracle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77240" y="2606040"/>
            <a:ext cx="5029200" cy="41148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2200" b="1">
                <a:solidFill>
                  <a:srgbClr val="0F3D32"/>
                </a:solidFill>
                <a:latin typeface="Georgia"/>
              </a:rPr>
              <a:t>PayRollFlow_Admin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77240" y="3154680"/>
            <a:ext cx="5029200" cy="246888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500" b="0">
                <a:solidFill>
                  <a:srgbClr val="5C6B66"/>
                </a:solidFill>
                <a:latin typeface="Calibri"/>
              </a:rPr>
              <a:t>Rôle applicatif : administrateur.
Accès console /admin, cycles, RH, réseau, paramètres.
Si l’email n’existe pas encore côté paie, un admin peut être provisionné.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217920" y="2011680"/>
            <a:ext cx="5486400" cy="402336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9525">
            <a:solidFill>
              <a:srgbClr val="E4DDD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492240" y="2194560"/>
            <a:ext cx="5029200" cy="36576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400" b="1">
                <a:solidFill>
                  <a:srgbClr val="A8864E"/>
                </a:solidFill>
                <a:latin typeface="Calibri"/>
              </a:rPr>
              <a:t>Groupe Oracle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492240" y="2606040"/>
            <a:ext cx="5029200" cy="41148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2200" b="1">
                <a:solidFill>
                  <a:srgbClr val="0F3D32"/>
                </a:solidFill>
                <a:latin typeface="Georgia"/>
              </a:rPr>
              <a:t>PayRollFlow_Employee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492240" y="3154680"/>
            <a:ext cx="5029200" cy="246888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500" b="0">
                <a:solidFill>
                  <a:srgbClr val="5C6B66"/>
                </a:solidFill>
                <a:latin typeface="Calibri"/>
              </a:rPr>
              <a:t>Rôle applicatif : collaborateur.
Accès /espace uniquement.
L’email doit correspondre à une fiche salarié PayRollFlow.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02920" y="6565392"/>
            <a:ext cx="7315200" cy="219456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000" b="0">
                <a:solidFill>
                  <a:srgbClr val="5C6B66"/>
                </a:solidFill>
                <a:latin typeface="Calibri"/>
              </a:rPr>
              <a:t>PayRollFlow  ·  ANTARES DS  ·  Synthèse projet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0424160" y="6565392"/>
            <a:ext cx="1280160" cy="219456"/>
          </a:xfrm>
          <a:prstGeom prst="rect">
            <a:avLst/>
          </a:prstGeom>
          <a:noFill/>
        </p:spPr>
        <p:txBody>
          <a:bodyPr wrap="square" anchor="t"/>
          <a:lstStyle/>
          <a:p>
            <a:pPr algn="r"/>
            <a:r>
              <a:rPr sz="1000" b="0">
                <a:solidFill>
                  <a:srgbClr val="5C6B66"/>
                </a:solidFill>
                <a:latin typeface="Calibri"/>
              </a:rPr>
              <a:t>15  /  18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6F2E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320040"/>
            <a:ext cx="9144000" cy="27432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200" b="1">
                <a:solidFill>
                  <a:srgbClr val="A8864E"/>
                </a:solidFill>
                <a:latin typeface="Calibri"/>
              </a:rPr>
              <a:t>04  —  RUN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594360"/>
            <a:ext cx="10972800" cy="45720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2600" b="1">
                <a:solidFill>
                  <a:srgbClr val="0F3D32"/>
                </a:solidFill>
                <a:latin typeface="Georgia"/>
              </a:rPr>
              <a:t>Monitoring sur l’instance, CI/CD vers la VM</a:t>
            </a:r>
          </a:p>
        </p:txBody>
      </p:sp>
      <p:sp>
        <p:nvSpPr>
          <p:cNvPr id="5" name="Rectangle 4"/>
          <p:cNvSpPr/>
          <p:nvPr/>
        </p:nvSpPr>
        <p:spPr>
          <a:xfrm>
            <a:off x="548640" y="1143000"/>
            <a:ext cx="502920" cy="64008"/>
          </a:xfrm>
          <a:prstGeom prst="rect">
            <a:avLst/>
          </a:prstGeom>
          <a:solidFill>
            <a:srgbClr val="C4A57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502920" y="1417320"/>
            <a:ext cx="5623560" cy="141732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9525">
            <a:solidFill>
              <a:srgbClr val="E4DDD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31520" y="1581912"/>
            <a:ext cx="5166360" cy="32004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600" b="1">
                <a:solidFill>
                  <a:srgbClr val="0F3D32"/>
                </a:solidFill>
                <a:latin typeface="Georgia"/>
              </a:rPr>
              <a:t>Prometheus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31520" y="1947672"/>
            <a:ext cx="5166360" cy="68580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300" b="0">
                <a:solidFill>
                  <a:srgbClr val="5C6B66"/>
                </a:solidFill>
                <a:latin typeface="Calibri"/>
              </a:rPr>
              <a:t>Métriques /metrics des microservices, cAdvisor, node-exporter, PostgreSQL.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309360" y="1417320"/>
            <a:ext cx="5623560" cy="141732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9525">
            <a:solidFill>
              <a:srgbClr val="E4DDD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537960" y="1581912"/>
            <a:ext cx="5166360" cy="32004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600" b="1">
                <a:solidFill>
                  <a:srgbClr val="0F3D32"/>
                </a:solidFill>
                <a:latin typeface="Georgia"/>
              </a:rPr>
              <a:t>Grafana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537960" y="1947672"/>
            <a:ext cx="5166360" cy="68580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300" b="0">
                <a:solidFill>
                  <a:srgbClr val="5C6B66"/>
                </a:solidFill>
                <a:latin typeface="Calibri"/>
              </a:rPr>
              <a:t>Tableaux de bord : latence, erreurs, CPU. Port dédié sur la VM (ex. 45300).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502920" y="2971800"/>
            <a:ext cx="5623560" cy="141732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9525">
            <a:solidFill>
              <a:srgbClr val="E4DDD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731520" y="3136392"/>
            <a:ext cx="5166360" cy="32004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600" b="1">
                <a:solidFill>
                  <a:srgbClr val="0F3D32"/>
                </a:solidFill>
                <a:latin typeface="Georgia"/>
              </a:rPr>
              <a:t>ELK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31520" y="3502152"/>
            <a:ext cx="5166360" cy="68580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300" b="0">
                <a:solidFill>
                  <a:srgbClr val="5C6B66"/>
                </a:solidFill>
                <a:latin typeface="Calibri"/>
              </a:rPr>
              <a:t>Elasticsearch + Filebeat + Kibana. Logs JSON Docker de l’app, sur la machine.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6309360" y="2971800"/>
            <a:ext cx="5623560" cy="141732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9525">
            <a:solidFill>
              <a:srgbClr val="E4DDD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537960" y="3136392"/>
            <a:ext cx="5166360" cy="32004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600" b="1">
                <a:solidFill>
                  <a:srgbClr val="0F3D32"/>
                </a:solidFill>
                <a:latin typeface="Georgia"/>
              </a:rPr>
              <a:t>SQL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537960" y="3502152"/>
            <a:ext cx="5166360" cy="68580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300" b="0">
                <a:solidFill>
                  <a:srgbClr val="5C6B66"/>
                </a:solidFill>
                <a:latin typeface="Calibri"/>
              </a:rPr>
              <a:t>PostgreSQL sur l’instance : identité, audit de connexion, heartbeat. La paie reste dans le store applicatif.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502920" y="4663440"/>
            <a:ext cx="11155680" cy="1463040"/>
          </a:xfrm>
          <a:prstGeom prst="roundRect">
            <a:avLst>
              <a:gd name="adj" fmla="val 8000"/>
            </a:avLst>
          </a:prstGeom>
          <a:solidFill>
            <a:srgbClr val="0F3D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777240" y="4828032"/>
            <a:ext cx="10607040" cy="27432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400" b="1">
                <a:solidFill>
                  <a:srgbClr val="C4A574"/>
                </a:solidFill>
                <a:latin typeface="Calibri"/>
              </a:rPr>
              <a:t>CI / CD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777240" y="5138928"/>
            <a:ext cx="10607040" cy="77724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400" b="0">
                <a:solidFill>
                  <a:srgbClr val="D7E6E0"/>
                </a:solidFill>
                <a:latin typeface="Calibri"/>
              </a:rPr>
              <a:t>CI : typecheck frontend + backend à chaque push.  CD : git pull + docker compose sur l’instance existante (SSH), sans créer de VM ni de VCN.
Commande type : docker compose -f docker-compose.yml -f docker-compose.obs.yml up -d --build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502920" y="6565392"/>
            <a:ext cx="7315200" cy="219456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000" b="0">
                <a:solidFill>
                  <a:srgbClr val="5C6B66"/>
                </a:solidFill>
                <a:latin typeface="Calibri"/>
              </a:rPr>
              <a:t>PayRollFlow  ·  ANTARES DS  ·  Synthèse projet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0424160" y="6565392"/>
            <a:ext cx="1280160" cy="219456"/>
          </a:xfrm>
          <a:prstGeom prst="rect">
            <a:avLst/>
          </a:prstGeom>
          <a:noFill/>
        </p:spPr>
        <p:txBody>
          <a:bodyPr wrap="square" anchor="t"/>
          <a:lstStyle/>
          <a:p>
            <a:pPr algn="r"/>
            <a:r>
              <a:rPr sz="1000" b="0">
                <a:solidFill>
                  <a:srgbClr val="5C6B66"/>
                </a:solidFill>
                <a:latin typeface="Calibri"/>
              </a:rPr>
              <a:t>16  /  18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6F2E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320040"/>
            <a:ext cx="9144000" cy="27432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200" b="1">
                <a:solidFill>
                  <a:srgbClr val="A8864E"/>
                </a:solidFill>
                <a:latin typeface="Calibri"/>
              </a:rPr>
              <a:t>RESTITUTION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594360"/>
            <a:ext cx="10972800" cy="45720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2800" b="1">
                <a:solidFill>
                  <a:srgbClr val="0F3D32"/>
                </a:solidFill>
                <a:latin typeface="Georgia"/>
              </a:rPr>
              <a:t>Où on en est, ce qui reste</a:t>
            </a:r>
          </a:p>
        </p:txBody>
      </p:sp>
      <p:sp>
        <p:nvSpPr>
          <p:cNvPr id="5" name="Rectangle 4"/>
          <p:cNvSpPr/>
          <p:nvPr/>
        </p:nvSpPr>
        <p:spPr>
          <a:xfrm>
            <a:off x="548640" y="1115568"/>
            <a:ext cx="502920" cy="64008"/>
          </a:xfrm>
          <a:prstGeom prst="rect">
            <a:avLst/>
          </a:prstGeom>
          <a:solidFill>
            <a:srgbClr val="C4A57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502920" y="1417320"/>
            <a:ext cx="5486400" cy="470916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9525">
            <a:solidFill>
              <a:srgbClr val="E4DDD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77240" y="1600200"/>
            <a:ext cx="5029200" cy="36576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800" b="1">
                <a:solidFill>
                  <a:srgbClr val="0F3D32"/>
                </a:solidFill>
                <a:latin typeface="Georgia"/>
              </a:rPr>
              <a:t>Livré dans l’application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77240" y="2103120"/>
            <a:ext cx="4937760" cy="374903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800"/>
              </a:spcAft>
            </a:pPr>
            <a:r>
              <a:rPr sz="1500">
                <a:solidFill>
                  <a:srgbClr val="1A2421"/>
                </a:solidFill>
                <a:latin typeface="Calibri"/>
              </a:rPr>
              <a:t>▸  Bulletins officiels (Yao 704,88 €)</a:t>
            </a:r>
          </a:p>
          <a:p>
            <a:pPr algn="l">
              <a:spcAft>
                <a:spcPts val="800"/>
              </a:spcAft>
            </a:pPr>
            <a:r>
              <a:rPr sz="1500">
                <a:solidFill>
                  <a:srgbClr val="1A2421"/>
                </a:solidFill>
                <a:latin typeface="Calibri"/>
              </a:rPr>
              <a:t>▸  Assistant RH ancré dans les données</a:t>
            </a:r>
          </a:p>
          <a:p>
            <a:pPr algn="l">
              <a:spcAft>
                <a:spcPts val="800"/>
              </a:spcAft>
            </a:pPr>
            <a:r>
              <a:rPr sz="1500">
                <a:solidFill>
                  <a:srgbClr val="1A2421"/>
                </a:solidFill>
                <a:latin typeface="Calibri"/>
              </a:rPr>
              <a:t>▸  KPI, simulateur, contrats, attestations</a:t>
            </a:r>
          </a:p>
          <a:p>
            <a:pPr algn="l">
              <a:spcAft>
                <a:spcPts val="800"/>
              </a:spcAft>
            </a:pPr>
            <a:r>
              <a:rPr sz="1500">
                <a:solidFill>
                  <a:srgbClr val="1A2421"/>
                </a:solidFill>
                <a:latin typeface="Calibri"/>
              </a:rPr>
              <a:t>▸  Congés, acomptes, réseau, audit</a:t>
            </a:r>
          </a:p>
          <a:p>
            <a:pPr algn="l">
              <a:spcAft>
                <a:spcPts val="800"/>
              </a:spcAft>
            </a:pPr>
            <a:r>
              <a:rPr sz="1500">
                <a:solidFill>
                  <a:srgbClr val="1A2421"/>
                </a:solidFill>
                <a:latin typeface="Calibri"/>
              </a:rPr>
              <a:t>▸  Auth admin/employé, cookie, rate limit</a:t>
            </a:r>
          </a:p>
          <a:p>
            <a:pPr algn="l">
              <a:spcAft>
                <a:spcPts val="800"/>
              </a:spcAft>
            </a:pPr>
            <a:r>
              <a:rPr sz="1500">
                <a:solidFill>
                  <a:srgbClr val="1A2421"/>
                </a:solidFill>
                <a:latin typeface="Calibri"/>
              </a:rPr>
              <a:t>▸  Docker local, README, comptes démo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217920" y="1417320"/>
            <a:ext cx="5486400" cy="4709160"/>
          </a:xfrm>
          <a:prstGeom prst="roundRect">
            <a:avLst>
              <a:gd name="adj" fmla="val 8000"/>
            </a:avLst>
          </a:prstGeom>
          <a:solidFill>
            <a:srgbClr val="0F3D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492240" y="1600200"/>
            <a:ext cx="5029200" cy="36576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800" b="1">
                <a:solidFill>
                  <a:srgbClr val="C4A574"/>
                </a:solidFill>
                <a:latin typeface="Georgia"/>
              </a:rPr>
              <a:t>À brancher sur Oracle Cloud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492240" y="2103120"/>
            <a:ext cx="4937760" cy="374903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800"/>
              </a:spcAft>
            </a:pPr>
            <a:r>
              <a:rPr sz="1500">
                <a:solidFill>
                  <a:srgbClr val="D7E6E0"/>
                </a:solidFill>
                <a:latin typeface="Calibri"/>
              </a:rPr>
              <a:t>▸  Déployer Compose sur l’instance existante</a:t>
            </a:r>
          </a:p>
          <a:p>
            <a:pPr algn="l">
              <a:spcAft>
                <a:spcPts val="800"/>
              </a:spcAft>
            </a:pPr>
            <a:r>
              <a:rPr sz="1500">
                <a:solidFill>
                  <a:srgbClr val="D7E6E0"/>
                </a:solidFill>
                <a:latin typeface="Calibri"/>
              </a:rPr>
              <a:t>▸  Ouvrir les ports NSG (app + monitoring)</a:t>
            </a:r>
          </a:p>
          <a:p>
            <a:pPr algn="l">
              <a:spcAft>
                <a:spcPts val="800"/>
              </a:spcAft>
            </a:pPr>
            <a:r>
              <a:rPr sz="1500">
                <a:solidFill>
                  <a:srgbClr val="D7E6E0"/>
                </a:solidFill>
                <a:latin typeface="Calibri"/>
              </a:rPr>
              <a:t>▸  Créer users / groupes / rôles dans OCI</a:t>
            </a:r>
          </a:p>
          <a:p>
            <a:pPr algn="l">
              <a:spcAft>
                <a:spcPts val="800"/>
              </a:spcAft>
            </a:pPr>
            <a:r>
              <a:rPr sz="1500">
                <a:solidFill>
                  <a:srgbClr val="D7E6E0"/>
                </a:solidFill>
                <a:latin typeface="Calibri"/>
              </a:rPr>
              <a:t>▸  Brancher OIDC Identity Domain → login app</a:t>
            </a:r>
          </a:p>
          <a:p>
            <a:pPr algn="l">
              <a:spcAft>
                <a:spcPts val="800"/>
              </a:spcAft>
            </a:pPr>
            <a:r>
              <a:rPr sz="1500">
                <a:solidFill>
                  <a:srgbClr val="D7E6E0"/>
                </a:solidFill>
                <a:latin typeface="Calibri"/>
              </a:rPr>
              <a:t>▸  Allumer PostgreSQL + ELK + Grafana sur la VM</a:t>
            </a:r>
          </a:p>
          <a:p>
            <a:pPr algn="l">
              <a:spcAft>
                <a:spcPts val="800"/>
              </a:spcAft>
            </a:pPr>
            <a:r>
              <a:rPr sz="1500">
                <a:solidFill>
                  <a:srgbClr val="D7E6E0"/>
                </a:solidFill>
                <a:latin typeface="Calibri"/>
              </a:rPr>
              <a:t>▸  Activer le CD SSH (OCI_SSH_HOST)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02920" y="6565392"/>
            <a:ext cx="7315200" cy="219456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000" b="0">
                <a:solidFill>
                  <a:srgbClr val="5C6B66"/>
                </a:solidFill>
                <a:latin typeface="Calibri"/>
              </a:rPr>
              <a:t>PayRollFlow  ·  ANTARES DS  ·  Synthèse projet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424160" y="6565392"/>
            <a:ext cx="1280160" cy="219456"/>
          </a:xfrm>
          <a:prstGeom prst="rect">
            <a:avLst/>
          </a:prstGeom>
          <a:noFill/>
        </p:spPr>
        <p:txBody>
          <a:bodyPr wrap="square" anchor="t"/>
          <a:lstStyle/>
          <a:p>
            <a:pPr algn="r"/>
            <a:r>
              <a:rPr sz="1000" b="0">
                <a:solidFill>
                  <a:srgbClr val="5C6B66"/>
                </a:solidFill>
                <a:latin typeface="Calibri"/>
              </a:rPr>
              <a:t>17  /  18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3D3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C4A57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40080" y="1554480"/>
            <a:ext cx="10515600" cy="27432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300" b="1">
                <a:solidFill>
                  <a:srgbClr val="C4A574"/>
                </a:solidFill>
                <a:latin typeface="Calibri"/>
              </a:rPr>
              <a:t>EN UNE PHRASE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1965960"/>
            <a:ext cx="10972800" cy="201168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2800" b="1">
                <a:solidFill>
                  <a:srgbClr val="FFFFFF"/>
                </a:solidFill>
                <a:latin typeface="Georgia"/>
              </a:rPr>
              <a:t>PayRollFlow est la paie ANTARES DS,
avec un assistant qui dit vrai,
prête à vivre sur votre instance Oracle Cloud.</a:t>
            </a:r>
          </a:p>
        </p:txBody>
      </p:sp>
      <p:sp>
        <p:nvSpPr>
          <p:cNvPr id="6" name="Rectangle 5"/>
          <p:cNvSpPr/>
          <p:nvPr/>
        </p:nvSpPr>
        <p:spPr>
          <a:xfrm>
            <a:off x="640080" y="4206240"/>
            <a:ext cx="1005840" cy="64008"/>
          </a:xfrm>
          <a:prstGeom prst="rect">
            <a:avLst/>
          </a:prstGeom>
          <a:solidFill>
            <a:srgbClr val="C4A57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40080" y="4480560"/>
            <a:ext cx="10515600" cy="109728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600" b="0">
                <a:solidFill>
                  <a:srgbClr val="D7E6E0"/>
                </a:solidFill>
                <a:latin typeface="Calibri"/>
              </a:rPr>
              <a:t>Produit : console RH + espace collaborateur + bulletin Cerfa.
Levier : assistant, KPI, simulateur, contrats, attestations.
Run : instance existante, comptes Oracle, ELK / Prometheus / Grafana.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5943600"/>
            <a:ext cx="10058400" cy="27432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200" b="0">
                <a:solidFill>
                  <a:srgbClr val="C4A574"/>
                </a:solidFill>
                <a:latin typeface="Calibri"/>
              </a:rPr>
              <a:t>PayRollFlow  ·  ANTARES DS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02920" y="6565392"/>
            <a:ext cx="7315200" cy="219456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000" b="0">
                <a:solidFill>
                  <a:srgbClr val="C4A574"/>
                </a:solidFill>
                <a:latin typeface="Calibri"/>
              </a:rPr>
              <a:t>PayRollFlow  ·  ANTARES DS  ·  Synthèse projet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424160" y="6565392"/>
            <a:ext cx="1280160" cy="219456"/>
          </a:xfrm>
          <a:prstGeom prst="rect">
            <a:avLst/>
          </a:prstGeom>
          <a:noFill/>
        </p:spPr>
        <p:txBody>
          <a:bodyPr wrap="square" anchor="t"/>
          <a:lstStyle/>
          <a:p>
            <a:pPr algn="r"/>
            <a:r>
              <a:rPr sz="1000" b="0">
                <a:solidFill>
                  <a:srgbClr val="C4A574"/>
                </a:solidFill>
                <a:latin typeface="Calibri"/>
              </a:rPr>
              <a:t>18  /  18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